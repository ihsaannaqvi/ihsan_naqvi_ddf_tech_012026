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8" r:id="rId3"/>
    <p:sldId id="261" r:id="rId4"/>
    <p:sldId id="262" r:id="rId5"/>
    <p:sldId id="263" r:id="rId6"/>
    <p:sldId id="264" r:id="rId7"/>
    <p:sldId id="336" r:id="rId8"/>
    <p:sldId id="337" r:id="rId9"/>
    <p:sldId id="338" r:id="rId10"/>
    <p:sldId id="339" r:id="rId11"/>
    <p:sldId id="340" r:id="rId12"/>
    <p:sldId id="341" r:id="rId13"/>
    <p:sldId id="342" r:id="rId14"/>
    <p:sldId id="343" r:id="rId15"/>
    <p:sldId id="344" r:id="rId16"/>
    <p:sldId id="345" r:id="rId17"/>
    <p:sldId id="346" r:id="rId18"/>
    <p:sldId id="347" r:id="rId19"/>
    <p:sldId id="348" r:id="rId20"/>
    <p:sldId id="321" r:id="rId21"/>
  </p:sldIdLst>
  <p:sldSz cx="9144000" cy="5143500" type="screen16x9"/>
  <p:notesSz cx="6858000" cy="9144000"/>
  <p:embeddedFontLst>
    <p:embeddedFont>
      <p:font typeface="DM Sans Medium" panose="020B0604020202020204" charset="0"/>
      <p:regular r:id="rId24"/>
      <p:bold r:id="rId25"/>
      <p:italic r:id="rId26"/>
      <p:boldItalic r:id="rId27"/>
    </p:embeddedFont>
    <p:embeddedFont>
      <p:font typeface="DM Sans" panose="020B0604020202020204" charset="0"/>
      <p:regular r:id="rId28"/>
      <p:bold r:id="rId29"/>
      <p:italic r:id="rId30"/>
      <p:boldItalic r:id="rId31"/>
    </p:embeddedFont>
    <p:embeddedFont>
      <p:font typeface="Outfit" panose="020B0604020202020204" charset="0"/>
      <p:regular r:id="rId32"/>
      <p:bold r:id="rId33"/>
    </p:embeddedFont>
    <p:embeddedFont>
      <p:font typeface="Outfit Medium" panose="020B0604020202020204" charset="0"/>
      <p:regular r:id="rId34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7CF4F0F-DF48-43A2-8DC5-B0DA456118CA}">
  <a:tblStyle styleId="{D7CF4F0F-DF48-43A2-8DC5-B0DA456118C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364" autoAdjust="0"/>
  </p:normalViewPr>
  <p:slideViewPr>
    <p:cSldViewPr snapToGrid="0">
      <p:cViewPr varScale="1">
        <p:scale>
          <a:sx n="97" d="100"/>
          <a:sy n="97" d="100"/>
        </p:scale>
        <p:origin x="606" y="-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font" Target="fonts/font5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99FB83-E24A-4DAB-AE22-70D9F13560D8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38A32D-3A6F-4844-BB0A-7D3D27A51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9473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09703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18889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04009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09482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57906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7002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15133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64310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38170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82622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05672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2145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83007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6299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156000"/>
            <a:ext cx="4160700" cy="238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41600"/>
            <a:ext cx="4160700" cy="4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554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ubTitle" idx="1"/>
          </p:nvPr>
        </p:nvSpPr>
        <p:spPr>
          <a:xfrm>
            <a:off x="720000" y="1652075"/>
            <a:ext cx="4294800" cy="213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title" hasCustomPrompt="1"/>
          </p:nvPr>
        </p:nvSpPr>
        <p:spPr>
          <a:xfrm>
            <a:off x="713225" y="1774100"/>
            <a:ext cx="4676100" cy="109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6" name="Google Shape;66;p11"/>
          <p:cNvSpPr txBox="1">
            <a:spLocks noGrp="1"/>
          </p:cNvSpPr>
          <p:nvPr>
            <p:ph type="subTitle" idx="1"/>
          </p:nvPr>
        </p:nvSpPr>
        <p:spPr>
          <a:xfrm>
            <a:off x="713225" y="2872275"/>
            <a:ext cx="46761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13"/>
          <p:cNvGrpSpPr/>
          <p:nvPr/>
        </p:nvGrpSpPr>
        <p:grpSpPr>
          <a:xfrm>
            <a:off x="-417711" y="-428628"/>
            <a:ext cx="9979385" cy="6000759"/>
            <a:chOff x="-417711" y="-428628"/>
            <a:chExt cx="9979385" cy="6000759"/>
          </a:xfrm>
        </p:grpSpPr>
        <p:sp>
          <p:nvSpPr>
            <p:cNvPr id="70" name="Google Shape;70;p13"/>
            <p:cNvSpPr/>
            <p:nvPr/>
          </p:nvSpPr>
          <p:spPr>
            <a:xfrm>
              <a:off x="421002" y="-42862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7884277" y="-42862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8430764" y="554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8430764" y="7462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-125486" y="554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-125486" y="7462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-417711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8722964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" name="Google Shape;78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1"/>
          </p:nvPr>
        </p:nvSpPr>
        <p:spPr>
          <a:xfrm>
            <a:off x="720000" y="21784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2"/>
          </p:nvPr>
        </p:nvSpPr>
        <p:spPr>
          <a:xfrm>
            <a:off x="3419271" y="21784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3"/>
          </p:nvPr>
        </p:nvSpPr>
        <p:spPr>
          <a:xfrm>
            <a:off x="720000" y="39116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4"/>
          </p:nvPr>
        </p:nvSpPr>
        <p:spPr>
          <a:xfrm>
            <a:off x="3419271" y="39116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5"/>
          </p:nvPr>
        </p:nvSpPr>
        <p:spPr>
          <a:xfrm>
            <a:off x="6118549" y="21784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6"/>
          </p:nvPr>
        </p:nvSpPr>
        <p:spPr>
          <a:xfrm>
            <a:off x="6118549" y="39116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7" hasCustomPrompt="1"/>
          </p:nvPr>
        </p:nvSpPr>
        <p:spPr>
          <a:xfrm>
            <a:off x="1505400" y="1206926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8" hasCustomPrompt="1"/>
          </p:nvPr>
        </p:nvSpPr>
        <p:spPr>
          <a:xfrm>
            <a:off x="1505400" y="2939527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9" hasCustomPrompt="1"/>
          </p:nvPr>
        </p:nvSpPr>
        <p:spPr>
          <a:xfrm>
            <a:off x="4204671" y="1206926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13" hasCustomPrompt="1"/>
          </p:nvPr>
        </p:nvSpPr>
        <p:spPr>
          <a:xfrm>
            <a:off x="4204671" y="2939527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14" hasCustomPrompt="1"/>
          </p:nvPr>
        </p:nvSpPr>
        <p:spPr>
          <a:xfrm>
            <a:off x="6903950" y="1206926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5" hasCustomPrompt="1"/>
          </p:nvPr>
        </p:nvSpPr>
        <p:spPr>
          <a:xfrm>
            <a:off x="6903950" y="2939527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16"/>
          </p:nvPr>
        </p:nvSpPr>
        <p:spPr>
          <a:xfrm>
            <a:off x="720000" y="18011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17"/>
          </p:nvPr>
        </p:nvSpPr>
        <p:spPr>
          <a:xfrm>
            <a:off x="3419271" y="18011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subTitle" idx="18"/>
          </p:nvPr>
        </p:nvSpPr>
        <p:spPr>
          <a:xfrm>
            <a:off x="6118549" y="18011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19"/>
          </p:nvPr>
        </p:nvSpPr>
        <p:spPr>
          <a:xfrm>
            <a:off x="720000" y="3533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20"/>
          </p:nvPr>
        </p:nvSpPr>
        <p:spPr>
          <a:xfrm>
            <a:off x="3419271" y="3533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21"/>
          </p:nvPr>
        </p:nvSpPr>
        <p:spPr>
          <a:xfrm>
            <a:off x="6118549" y="3533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24"/>
          <p:cNvGrpSpPr/>
          <p:nvPr/>
        </p:nvGrpSpPr>
        <p:grpSpPr>
          <a:xfrm>
            <a:off x="-310473" y="3500727"/>
            <a:ext cx="9764950" cy="2327954"/>
            <a:chOff x="-310473" y="3500727"/>
            <a:chExt cx="9764950" cy="2327954"/>
          </a:xfrm>
        </p:grpSpPr>
        <p:sp>
          <p:nvSpPr>
            <p:cNvPr id="217" name="Google Shape;217;p24"/>
            <p:cNvSpPr/>
            <p:nvPr/>
          </p:nvSpPr>
          <p:spPr>
            <a:xfrm rot="10800000" flipH="1">
              <a:off x="927364" y="46300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4"/>
            <p:cNvSpPr/>
            <p:nvPr/>
          </p:nvSpPr>
          <p:spPr>
            <a:xfrm rot="10800000" flipH="1">
              <a:off x="273054" y="486056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4"/>
            <p:cNvSpPr/>
            <p:nvPr/>
          </p:nvSpPr>
          <p:spPr>
            <a:xfrm>
              <a:off x="-310473" y="39963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4"/>
            <p:cNvSpPr/>
            <p:nvPr/>
          </p:nvSpPr>
          <p:spPr>
            <a:xfrm>
              <a:off x="-125483" y="35007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4"/>
            <p:cNvSpPr/>
            <p:nvPr/>
          </p:nvSpPr>
          <p:spPr>
            <a:xfrm flipH="1">
              <a:off x="8615767" y="39963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4"/>
            <p:cNvSpPr/>
            <p:nvPr/>
          </p:nvSpPr>
          <p:spPr>
            <a:xfrm flipH="1">
              <a:off x="8424002" y="35007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4"/>
            <p:cNvSpPr/>
            <p:nvPr/>
          </p:nvSpPr>
          <p:spPr>
            <a:xfrm rot="10800000">
              <a:off x="7377929" y="46300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4"/>
            <p:cNvSpPr/>
            <p:nvPr/>
          </p:nvSpPr>
          <p:spPr>
            <a:xfrm rot="10800000">
              <a:off x="8032239" y="486056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5" name="Google Shape;225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4"/>
          <p:cNvSpPr txBox="1">
            <a:spLocks noGrp="1"/>
          </p:cNvSpPr>
          <p:nvPr>
            <p:ph type="subTitle" idx="1"/>
          </p:nvPr>
        </p:nvSpPr>
        <p:spPr>
          <a:xfrm>
            <a:off x="4821081" y="2782975"/>
            <a:ext cx="2844000" cy="11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24"/>
          <p:cNvSpPr txBox="1">
            <a:spLocks noGrp="1"/>
          </p:cNvSpPr>
          <p:nvPr>
            <p:ph type="subTitle" idx="2"/>
          </p:nvPr>
        </p:nvSpPr>
        <p:spPr>
          <a:xfrm>
            <a:off x="1478950" y="2782975"/>
            <a:ext cx="2844000" cy="11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4"/>
          <p:cNvSpPr txBox="1">
            <a:spLocks noGrp="1"/>
          </p:cNvSpPr>
          <p:nvPr>
            <p:ph type="subTitle" idx="3"/>
          </p:nvPr>
        </p:nvSpPr>
        <p:spPr>
          <a:xfrm>
            <a:off x="1478950" y="2370625"/>
            <a:ext cx="2844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29" name="Google Shape;229;p24"/>
          <p:cNvSpPr txBox="1">
            <a:spLocks noGrp="1"/>
          </p:cNvSpPr>
          <p:nvPr>
            <p:ph type="subTitle" idx="4"/>
          </p:nvPr>
        </p:nvSpPr>
        <p:spPr>
          <a:xfrm>
            <a:off x="4821091" y="2370625"/>
            <a:ext cx="2844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25"/>
          <p:cNvGrpSpPr/>
          <p:nvPr/>
        </p:nvGrpSpPr>
        <p:grpSpPr>
          <a:xfrm>
            <a:off x="-655296" y="3436585"/>
            <a:ext cx="10454595" cy="2311221"/>
            <a:chOff x="-655296" y="3436585"/>
            <a:chExt cx="10454595" cy="2311221"/>
          </a:xfrm>
        </p:grpSpPr>
        <p:sp>
          <p:nvSpPr>
            <p:cNvPr id="232" name="Google Shape;232;p25"/>
            <p:cNvSpPr/>
            <p:nvPr/>
          </p:nvSpPr>
          <p:spPr>
            <a:xfrm rot="10800000" flipH="1">
              <a:off x="-136836" y="34365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5"/>
            <p:cNvSpPr/>
            <p:nvPr/>
          </p:nvSpPr>
          <p:spPr>
            <a:xfrm>
              <a:off x="183414" y="454091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5"/>
            <p:cNvSpPr/>
            <p:nvPr/>
          </p:nvSpPr>
          <p:spPr>
            <a:xfrm rot="10800000" flipH="1">
              <a:off x="-655296" y="390306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5"/>
            <p:cNvSpPr/>
            <p:nvPr/>
          </p:nvSpPr>
          <p:spPr>
            <a:xfrm rot="10800000">
              <a:off x="8442129" y="34365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5"/>
            <p:cNvSpPr/>
            <p:nvPr/>
          </p:nvSpPr>
          <p:spPr>
            <a:xfrm flipH="1">
              <a:off x="8121879" y="454091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5"/>
            <p:cNvSpPr/>
            <p:nvPr/>
          </p:nvSpPr>
          <p:spPr>
            <a:xfrm rot="10800000">
              <a:off x="8960589" y="390306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5"/>
            <p:cNvSpPr/>
            <p:nvPr/>
          </p:nvSpPr>
          <p:spPr>
            <a:xfrm rot="10800000">
              <a:off x="7718714" y="47796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5"/>
            <p:cNvSpPr/>
            <p:nvPr/>
          </p:nvSpPr>
          <p:spPr>
            <a:xfrm rot="10800000">
              <a:off x="586589" y="47796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0" name="Google Shape;240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25"/>
          <p:cNvSpPr txBox="1">
            <a:spLocks noGrp="1"/>
          </p:cNvSpPr>
          <p:nvPr>
            <p:ph type="subTitle" idx="1"/>
          </p:nvPr>
        </p:nvSpPr>
        <p:spPr>
          <a:xfrm>
            <a:off x="4646250" y="1667625"/>
            <a:ext cx="3398400" cy="18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25"/>
          <p:cNvSpPr txBox="1">
            <a:spLocks noGrp="1"/>
          </p:cNvSpPr>
          <p:nvPr>
            <p:ph type="subTitle" idx="2"/>
          </p:nvPr>
        </p:nvSpPr>
        <p:spPr>
          <a:xfrm>
            <a:off x="1099338" y="1667625"/>
            <a:ext cx="3398400" cy="18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26"/>
          <p:cNvGrpSpPr/>
          <p:nvPr/>
        </p:nvGrpSpPr>
        <p:grpSpPr>
          <a:xfrm>
            <a:off x="-512036" y="-358023"/>
            <a:ext cx="10169413" cy="5930154"/>
            <a:chOff x="-512036" y="-358023"/>
            <a:chExt cx="10169413" cy="5930154"/>
          </a:xfrm>
        </p:grpSpPr>
        <p:sp>
          <p:nvSpPr>
            <p:cNvPr id="245" name="Google Shape;245;p26"/>
            <p:cNvSpPr/>
            <p:nvPr/>
          </p:nvSpPr>
          <p:spPr>
            <a:xfrm flipH="1">
              <a:off x="8430767" y="40742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6"/>
            <p:cNvSpPr/>
            <p:nvPr/>
          </p:nvSpPr>
          <p:spPr>
            <a:xfrm rot="10800000">
              <a:off x="8818667" y="182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6"/>
            <p:cNvSpPr/>
            <p:nvPr/>
          </p:nvSpPr>
          <p:spPr>
            <a:xfrm rot="10800000">
              <a:off x="8011414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6"/>
            <p:cNvSpPr/>
            <p:nvPr/>
          </p:nvSpPr>
          <p:spPr>
            <a:xfrm flipH="1">
              <a:off x="8430777" y="-3580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6"/>
            <p:cNvSpPr/>
            <p:nvPr/>
          </p:nvSpPr>
          <p:spPr>
            <a:xfrm>
              <a:off x="-124136" y="40742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6"/>
            <p:cNvSpPr/>
            <p:nvPr/>
          </p:nvSpPr>
          <p:spPr>
            <a:xfrm rot="10800000" flipH="1">
              <a:off x="-512036" y="182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6"/>
            <p:cNvSpPr/>
            <p:nvPr/>
          </p:nvSpPr>
          <p:spPr>
            <a:xfrm rot="10800000" flipH="1">
              <a:off x="295217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6"/>
            <p:cNvSpPr/>
            <p:nvPr/>
          </p:nvSpPr>
          <p:spPr>
            <a:xfrm>
              <a:off x="-124133" y="-3580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3" name="Google Shape;253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26"/>
          <p:cNvSpPr txBox="1">
            <a:spLocks noGrp="1"/>
          </p:cNvSpPr>
          <p:nvPr>
            <p:ph type="subTitle" idx="1"/>
          </p:nvPr>
        </p:nvSpPr>
        <p:spPr>
          <a:xfrm>
            <a:off x="881225" y="2768751"/>
            <a:ext cx="2288100" cy="8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26"/>
          <p:cNvSpPr txBox="1">
            <a:spLocks noGrp="1"/>
          </p:cNvSpPr>
          <p:nvPr>
            <p:ph type="subTitle" idx="2"/>
          </p:nvPr>
        </p:nvSpPr>
        <p:spPr>
          <a:xfrm>
            <a:off x="3427950" y="2768751"/>
            <a:ext cx="2288100" cy="8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26"/>
          <p:cNvSpPr txBox="1">
            <a:spLocks noGrp="1"/>
          </p:cNvSpPr>
          <p:nvPr>
            <p:ph type="subTitle" idx="3"/>
          </p:nvPr>
        </p:nvSpPr>
        <p:spPr>
          <a:xfrm>
            <a:off x="5974700" y="2768751"/>
            <a:ext cx="2288100" cy="8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26"/>
          <p:cNvSpPr txBox="1">
            <a:spLocks noGrp="1"/>
          </p:cNvSpPr>
          <p:nvPr>
            <p:ph type="subTitle" idx="4"/>
          </p:nvPr>
        </p:nvSpPr>
        <p:spPr>
          <a:xfrm>
            <a:off x="881225" y="2250275"/>
            <a:ext cx="22881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58" name="Google Shape;258;p26"/>
          <p:cNvSpPr txBox="1">
            <a:spLocks noGrp="1"/>
          </p:cNvSpPr>
          <p:nvPr>
            <p:ph type="subTitle" idx="5"/>
          </p:nvPr>
        </p:nvSpPr>
        <p:spPr>
          <a:xfrm>
            <a:off x="3427954" y="2250275"/>
            <a:ext cx="22881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59" name="Google Shape;259;p26"/>
          <p:cNvSpPr txBox="1">
            <a:spLocks noGrp="1"/>
          </p:cNvSpPr>
          <p:nvPr>
            <p:ph type="subTitle" idx="6"/>
          </p:nvPr>
        </p:nvSpPr>
        <p:spPr>
          <a:xfrm>
            <a:off x="5974700" y="2250275"/>
            <a:ext cx="22881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p31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315" name="Google Shape;315;p31"/>
            <p:cNvSpPr/>
            <p:nvPr/>
          </p:nvSpPr>
          <p:spPr>
            <a:xfrm>
              <a:off x="-125573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1"/>
            <p:cNvSpPr/>
            <p:nvPr/>
          </p:nvSpPr>
          <p:spPr>
            <a:xfrm>
              <a:off x="-125583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1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1"/>
            <p:cNvSpPr/>
            <p:nvPr/>
          </p:nvSpPr>
          <p:spPr>
            <a:xfrm rot="10800000" flipH="1">
              <a:off x="346967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1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1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1"/>
            <p:cNvSpPr/>
            <p:nvPr/>
          </p:nvSpPr>
          <p:spPr>
            <a:xfrm>
              <a:off x="8430777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1"/>
            <p:cNvSpPr/>
            <p:nvPr/>
          </p:nvSpPr>
          <p:spPr>
            <a:xfrm>
              <a:off x="8430767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32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325" name="Google Shape;325;p32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326" name="Google Shape;326;p32"/>
              <p:cNvSpPr/>
              <p:nvPr/>
            </p:nvSpPr>
            <p:spPr>
              <a:xfrm rot="10800000" flipH="1">
                <a:off x="-266661" y="2900252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32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32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32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32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32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4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32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3" name="Google Shape;333;p32"/>
            <p:cNvSpPr/>
            <p:nvPr/>
          </p:nvSpPr>
          <p:spPr>
            <a:xfrm rot="10800000" flipH="1">
              <a:off x="293867" y="47973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7" r:id="rId3"/>
    <p:sldLayoutId id="2147483658" r:id="rId4"/>
    <p:sldLayoutId id="2147483659" r:id="rId5"/>
    <p:sldLayoutId id="2147483670" r:id="rId6"/>
    <p:sldLayoutId id="2147483671" r:id="rId7"/>
    <p:sldLayoutId id="2147483672" r:id="rId8"/>
    <p:sldLayoutId id="2147483677" r:id="rId9"/>
    <p:sldLayoutId id="214748367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6"/>
          <p:cNvSpPr txBox="1">
            <a:spLocks noGrp="1"/>
          </p:cNvSpPr>
          <p:nvPr>
            <p:ph type="ctrTitle"/>
          </p:nvPr>
        </p:nvSpPr>
        <p:spPr>
          <a:xfrm>
            <a:off x="174452" y="850422"/>
            <a:ext cx="6248924" cy="26540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400" dirty="0"/>
              <a:t>E-commerce Product Analytics – Technical Case Presentation</a:t>
            </a:r>
            <a:r>
              <a:rPr lang="en-US" sz="4400" dirty="0" smtClean="0">
                <a:latin typeface="DM Sans" panose="020B0604020202020204" charset="0"/>
              </a:rPr>
              <a:t/>
            </a:r>
            <a:br>
              <a:rPr lang="en-US" sz="4400" dirty="0" smtClean="0">
                <a:latin typeface="DM Sans" panose="020B0604020202020204" charset="0"/>
              </a:rPr>
            </a:br>
            <a:r>
              <a:rPr lang="en" b="1" dirty="0">
                <a:latin typeface="DM Sans" panose="020B0604020202020204" charset="0"/>
              </a:rPr>
              <a:t/>
            </a:r>
            <a:br>
              <a:rPr lang="en" b="1" dirty="0">
                <a:latin typeface="DM Sans" panose="020B0604020202020204" charset="0"/>
              </a:rPr>
            </a:br>
            <a:r>
              <a:rPr lang="en-US" sz="2400" dirty="0" smtClean="0">
                <a:latin typeface="DM Sans" panose="020B0604020202020204" charset="0"/>
              </a:rPr>
              <a:t> </a:t>
            </a:r>
            <a:endParaRPr sz="4800" dirty="0">
              <a:latin typeface="DM Sans" panose="020B0604020202020204" charset="0"/>
            </a:endParaRPr>
          </a:p>
        </p:txBody>
      </p:sp>
      <p:sp>
        <p:nvSpPr>
          <p:cNvPr id="345" name="Google Shape;345;p36"/>
          <p:cNvSpPr txBox="1">
            <a:spLocks noGrp="1"/>
          </p:cNvSpPr>
          <p:nvPr>
            <p:ph type="subTitle" idx="1"/>
          </p:nvPr>
        </p:nvSpPr>
        <p:spPr>
          <a:xfrm>
            <a:off x="125363" y="3471539"/>
            <a:ext cx="6070117" cy="4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" dirty="0" smtClean="0">
                <a:latin typeface="DM Sans" panose="020B0604020202020204" charset="0"/>
              </a:rPr>
              <a:t>Presented By :Ihsaan --</a:t>
            </a:r>
            <a:r>
              <a:rPr lang="en-US" dirty="0"/>
              <a:t>Data Specialist from </a:t>
            </a:r>
            <a:r>
              <a:rPr lang="en-US" dirty="0" err="1"/>
              <a:t>Dadosfera</a:t>
            </a:r>
            <a:r>
              <a:rPr lang="en" dirty="0" smtClean="0">
                <a:latin typeface="DM Sans" panose="020B0604020202020204" charset="0"/>
              </a:rPr>
              <a:t>  </a:t>
            </a:r>
            <a:endParaRPr dirty="0">
              <a:latin typeface="DM Sans" panose="020B0604020202020204" charset="0"/>
            </a:endParaRPr>
          </a:p>
        </p:txBody>
      </p:sp>
      <p:cxnSp>
        <p:nvCxnSpPr>
          <p:cNvPr id="346" name="Google Shape;346;p36"/>
          <p:cNvCxnSpPr/>
          <p:nvPr/>
        </p:nvCxnSpPr>
        <p:spPr>
          <a:xfrm>
            <a:off x="713225" y="187113"/>
            <a:ext cx="373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7" name="Google Shape;347;p36"/>
          <p:cNvGrpSpPr/>
          <p:nvPr/>
        </p:nvGrpSpPr>
        <p:grpSpPr>
          <a:xfrm>
            <a:off x="5115337" y="-428624"/>
            <a:ext cx="4275118" cy="6450405"/>
            <a:chOff x="5115337" y="-428624"/>
            <a:chExt cx="4275118" cy="6450405"/>
          </a:xfrm>
        </p:grpSpPr>
        <p:sp>
          <p:nvSpPr>
            <p:cNvPr id="348" name="Google Shape;348;p36"/>
            <p:cNvSpPr/>
            <p:nvPr/>
          </p:nvSpPr>
          <p:spPr>
            <a:xfrm rot="10800000" flipH="1">
              <a:off x="8492525" y="-1927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 panose="020B0604020202020204" charset="0"/>
              </a:endParaRPr>
            </a:p>
          </p:txBody>
        </p:sp>
        <p:sp>
          <p:nvSpPr>
            <p:cNvPr id="349" name="Google Shape;349;p36"/>
            <p:cNvSpPr/>
            <p:nvPr/>
          </p:nvSpPr>
          <p:spPr>
            <a:xfrm>
              <a:off x="8551745" y="326783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 panose="020B0604020202020204" charset="0"/>
              </a:endParaRPr>
            </a:p>
          </p:txBody>
        </p:sp>
        <p:sp>
          <p:nvSpPr>
            <p:cNvPr id="350" name="Google Shape;350;p36"/>
            <p:cNvSpPr/>
            <p:nvPr/>
          </p:nvSpPr>
          <p:spPr>
            <a:xfrm>
              <a:off x="6606686" y="25473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 panose="020B0604020202020204" charset="0"/>
              </a:endParaRPr>
            </a:p>
          </p:txBody>
        </p:sp>
        <p:sp>
          <p:nvSpPr>
            <p:cNvPr id="351" name="Google Shape;351;p36"/>
            <p:cNvSpPr/>
            <p:nvPr/>
          </p:nvSpPr>
          <p:spPr>
            <a:xfrm>
              <a:off x="7103477" y="-1533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 panose="020B0604020202020204" charset="0"/>
              </a:endParaRPr>
            </a:p>
          </p:txBody>
        </p:sp>
        <p:sp>
          <p:nvSpPr>
            <p:cNvPr id="352" name="Google Shape;352;p36"/>
            <p:cNvSpPr/>
            <p:nvPr/>
          </p:nvSpPr>
          <p:spPr>
            <a:xfrm>
              <a:off x="6684072" y="31846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 panose="020B0604020202020204" charset="0"/>
              </a:endParaRPr>
            </a:p>
          </p:txBody>
        </p:sp>
        <p:sp>
          <p:nvSpPr>
            <p:cNvPr id="353" name="Google Shape;353;p36"/>
            <p:cNvSpPr/>
            <p:nvPr/>
          </p:nvSpPr>
          <p:spPr>
            <a:xfrm>
              <a:off x="6109895" y="119408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 panose="020B0604020202020204" charset="0"/>
              </a:endParaRPr>
            </a:p>
          </p:txBody>
        </p:sp>
        <p:sp>
          <p:nvSpPr>
            <p:cNvPr id="354" name="Google Shape;354;p36"/>
            <p:cNvSpPr/>
            <p:nvPr/>
          </p:nvSpPr>
          <p:spPr>
            <a:xfrm>
              <a:off x="6109895" y="69774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 panose="020B0604020202020204" charset="0"/>
              </a:endParaRPr>
            </a:p>
          </p:txBody>
        </p:sp>
        <p:sp>
          <p:nvSpPr>
            <p:cNvPr id="355" name="Google Shape;355;p36"/>
            <p:cNvSpPr/>
            <p:nvPr/>
          </p:nvSpPr>
          <p:spPr>
            <a:xfrm>
              <a:off x="7587339" y="11940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 panose="020B0604020202020204" charset="0"/>
              </a:endParaRPr>
            </a:p>
          </p:txBody>
        </p:sp>
        <p:sp>
          <p:nvSpPr>
            <p:cNvPr id="356" name="Google Shape;356;p36"/>
            <p:cNvSpPr/>
            <p:nvPr/>
          </p:nvSpPr>
          <p:spPr>
            <a:xfrm>
              <a:off x="5634170" y="-42862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 panose="020B0604020202020204" charset="0"/>
              </a:endParaRPr>
            </a:p>
          </p:txBody>
        </p:sp>
        <p:sp>
          <p:nvSpPr>
            <p:cNvPr id="357" name="Google Shape;357;p36"/>
            <p:cNvSpPr/>
            <p:nvPr/>
          </p:nvSpPr>
          <p:spPr>
            <a:xfrm>
              <a:off x="7017892" y="207505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 panose="020B0604020202020204" charset="0"/>
              </a:endParaRPr>
            </a:p>
          </p:txBody>
        </p:sp>
        <p:sp>
          <p:nvSpPr>
            <p:cNvPr id="358" name="Google Shape;358;p36"/>
            <p:cNvSpPr/>
            <p:nvPr/>
          </p:nvSpPr>
          <p:spPr>
            <a:xfrm>
              <a:off x="5193798" y="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 panose="020B0604020202020204" charset="0"/>
              </a:endParaRPr>
            </a:p>
          </p:txBody>
        </p:sp>
        <p:sp>
          <p:nvSpPr>
            <p:cNvPr id="359" name="Google Shape;359;p36"/>
            <p:cNvSpPr/>
            <p:nvPr/>
          </p:nvSpPr>
          <p:spPr>
            <a:xfrm>
              <a:off x="8068891" y="16222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 panose="020B0604020202020204" charset="0"/>
              </a:endParaRPr>
            </a:p>
          </p:txBody>
        </p:sp>
        <p:sp>
          <p:nvSpPr>
            <p:cNvPr id="360" name="Google Shape;360;p36"/>
            <p:cNvSpPr/>
            <p:nvPr/>
          </p:nvSpPr>
          <p:spPr>
            <a:xfrm rot="10800000" flipH="1">
              <a:off x="5115337" y="36559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 panose="020B0604020202020204" charset="0"/>
              </a:endParaRPr>
            </a:p>
          </p:txBody>
        </p:sp>
        <p:sp>
          <p:nvSpPr>
            <p:cNvPr id="361" name="Google Shape;361;p36"/>
            <p:cNvSpPr/>
            <p:nvPr/>
          </p:nvSpPr>
          <p:spPr>
            <a:xfrm rot="10800000" flipH="1">
              <a:off x="6606680" y="392470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 panose="020B0604020202020204" charset="0"/>
              </a:endParaRPr>
            </a:p>
          </p:txBody>
        </p:sp>
        <p:sp>
          <p:nvSpPr>
            <p:cNvPr id="362" name="Google Shape;362;p36"/>
            <p:cNvSpPr/>
            <p:nvPr/>
          </p:nvSpPr>
          <p:spPr>
            <a:xfrm rot="10800000" flipH="1">
              <a:off x="5983934" y="505366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 panose="020B0604020202020204" charset="0"/>
              </a:endParaRPr>
            </a:p>
          </p:txBody>
        </p:sp>
        <p:sp>
          <p:nvSpPr>
            <p:cNvPr id="363" name="Google Shape;363;p36"/>
            <p:cNvSpPr/>
            <p:nvPr/>
          </p:nvSpPr>
          <p:spPr>
            <a:xfrm rot="10800000" flipH="1">
              <a:off x="7178797" y="353334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 panose="020B0604020202020204" charset="0"/>
              </a:endParaRPr>
            </a:p>
          </p:txBody>
        </p:sp>
        <p:sp>
          <p:nvSpPr>
            <p:cNvPr id="364" name="Google Shape;364;p36"/>
            <p:cNvSpPr/>
            <p:nvPr/>
          </p:nvSpPr>
          <p:spPr>
            <a:xfrm rot="10800000" flipH="1">
              <a:off x="6606686" y="460940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 panose="020B0604020202020204" charset="0"/>
              </a:endParaRPr>
            </a:p>
          </p:txBody>
        </p:sp>
        <p:sp>
          <p:nvSpPr>
            <p:cNvPr id="365" name="Google Shape;365;p36"/>
            <p:cNvSpPr/>
            <p:nvPr/>
          </p:nvSpPr>
          <p:spPr>
            <a:xfrm rot="10800000" flipH="1">
              <a:off x="5526543" y="412830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 panose="020B0604020202020204" charset="0"/>
              </a:endParaRPr>
            </a:p>
          </p:txBody>
        </p:sp>
        <p:sp>
          <p:nvSpPr>
            <p:cNvPr id="366" name="Google Shape;366;p36"/>
            <p:cNvSpPr/>
            <p:nvPr/>
          </p:nvSpPr>
          <p:spPr>
            <a:xfrm>
              <a:off x="8117298" y="285223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 panose="020B0604020202020204" charset="0"/>
              </a:endParaRPr>
            </a:p>
          </p:txBody>
        </p:sp>
        <p:sp>
          <p:nvSpPr>
            <p:cNvPr id="367" name="Google Shape;367;p36"/>
            <p:cNvSpPr/>
            <p:nvPr/>
          </p:nvSpPr>
          <p:spPr>
            <a:xfrm>
              <a:off x="8172542" y="30360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 panose="020B0604020202020204" charset="0"/>
              </a:endParaRPr>
            </a:p>
          </p:txBody>
        </p:sp>
      </p:grpSp>
      <p:sp>
        <p:nvSpPr>
          <p:cNvPr id="3" name="Rectangle 2"/>
          <p:cNvSpPr/>
          <p:nvPr/>
        </p:nvSpPr>
        <p:spPr>
          <a:xfrm>
            <a:off x="4442839" y="4718894"/>
            <a:ext cx="37629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" sz="2000" dirty="0">
                <a:latin typeface="DM Sans" panose="020B0604020202020204" charset="0"/>
              </a:rPr>
              <a:t>1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8"/>
          <p:cNvSpPr txBox="1">
            <a:spLocks noGrp="1"/>
          </p:cNvSpPr>
          <p:nvPr>
            <p:ph type="title"/>
          </p:nvPr>
        </p:nvSpPr>
        <p:spPr>
          <a:xfrm>
            <a:off x="720049" y="13628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DM Sans" panose="020B0604020202020204" charset="0"/>
              </a:rPr>
              <a:t>Table of contents</a:t>
            </a:r>
            <a:endParaRPr dirty="0">
              <a:latin typeface="DM Sans" panose="020B0604020202020204" charset="0"/>
            </a:endParaRPr>
          </a:p>
        </p:txBody>
      </p:sp>
      <p:sp>
        <p:nvSpPr>
          <p:cNvPr id="387" name="Google Shape;387;p38"/>
          <p:cNvSpPr txBox="1">
            <a:spLocks noGrp="1"/>
          </p:cNvSpPr>
          <p:nvPr>
            <p:ph type="subTitle" idx="6"/>
          </p:nvPr>
        </p:nvSpPr>
        <p:spPr>
          <a:xfrm>
            <a:off x="3254014" y="4112234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DM Sans" panose="020B0604020202020204" charset="0"/>
              </a:rPr>
              <a:t> </a:t>
            </a:r>
            <a:endParaRPr dirty="0">
              <a:latin typeface="DM Sans" panose="020B0604020202020204" charset="0"/>
            </a:endParaRPr>
          </a:p>
        </p:txBody>
      </p:sp>
      <p:sp>
        <p:nvSpPr>
          <p:cNvPr id="388" name="Google Shape;388;p38"/>
          <p:cNvSpPr txBox="1">
            <a:spLocks noGrp="1"/>
          </p:cNvSpPr>
          <p:nvPr>
            <p:ph type="title" idx="7"/>
          </p:nvPr>
        </p:nvSpPr>
        <p:spPr>
          <a:xfrm>
            <a:off x="1346823" y="765043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DM Sans" panose="020B0604020202020204" charset="0"/>
              </a:rPr>
              <a:t>01</a:t>
            </a:r>
            <a:endParaRPr dirty="0">
              <a:latin typeface="DM Sans" panose="020B0604020202020204" charset="0"/>
            </a:endParaRPr>
          </a:p>
        </p:txBody>
      </p:sp>
      <p:sp>
        <p:nvSpPr>
          <p:cNvPr id="389" name="Google Shape;389;p38"/>
          <p:cNvSpPr txBox="1">
            <a:spLocks noGrp="1"/>
          </p:cNvSpPr>
          <p:nvPr>
            <p:ph type="title" idx="8"/>
          </p:nvPr>
        </p:nvSpPr>
        <p:spPr>
          <a:xfrm>
            <a:off x="7223572" y="2869206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DM Sans" panose="020B0604020202020204" charset="0"/>
              </a:rPr>
              <a:t>06</a:t>
            </a:r>
            <a:endParaRPr dirty="0">
              <a:latin typeface="DM Sans" panose="020B0604020202020204" charset="0"/>
            </a:endParaRPr>
          </a:p>
        </p:txBody>
      </p:sp>
      <p:sp>
        <p:nvSpPr>
          <p:cNvPr id="390" name="Google Shape;390;p38"/>
          <p:cNvSpPr txBox="1">
            <a:spLocks noGrp="1"/>
          </p:cNvSpPr>
          <p:nvPr>
            <p:ph type="title" idx="9"/>
          </p:nvPr>
        </p:nvSpPr>
        <p:spPr>
          <a:xfrm>
            <a:off x="4050424" y="865759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DM Sans" panose="020B0604020202020204" charset="0"/>
              </a:rPr>
              <a:t>02</a:t>
            </a:r>
            <a:endParaRPr dirty="0">
              <a:latin typeface="DM Sans" panose="020B0604020202020204" charset="0"/>
            </a:endParaRPr>
          </a:p>
        </p:txBody>
      </p:sp>
      <p:sp>
        <p:nvSpPr>
          <p:cNvPr id="391" name="Google Shape;391;p38"/>
          <p:cNvSpPr txBox="1">
            <a:spLocks noGrp="1"/>
          </p:cNvSpPr>
          <p:nvPr>
            <p:ph type="title" idx="13"/>
          </p:nvPr>
        </p:nvSpPr>
        <p:spPr>
          <a:xfrm>
            <a:off x="1340136" y="3140086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DM Sans" panose="020B0604020202020204" charset="0"/>
              </a:rPr>
              <a:t>04</a:t>
            </a:r>
            <a:endParaRPr dirty="0">
              <a:latin typeface="DM Sans" panose="020B0604020202020204" charset="0"/>
            </a:endParaRPr>
          </a:p>
        </p:txBody>
      </p:sp>
      <p:sp>
        <p:nvSpPr>
          <p:cNvPr id="392" name="Google Shape;392;p38"/>
          <p:cNvSpPr txBox="1">
            <a:spLocks noGrp="1"/>
          </p:cNvSpPr>
          <p:nvPr>
            <p:ph type="title" idx="14"/>
          </p:nvPr>
        </p:nvSpPr>
        <p:spPr>
          <a:xfrm>
            <a:off x="6756355" y="821540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DM Sans" panose="020B0604020202020204" charset="0"/>
              </a:rPr>
              <a:t>03</a:t>
            </a:r>
            <a:endParaRPr dirty="0">
              <a:latin typeface="DM Sans" panose="020B0604020202020204" charset="0"/>
            </a:endParaRPr>
          </a:p>
        </p:txBody>
      </p:sp>
      <p:sp>
        <p:nvSpPr>
          <p:cNvPr id="393" name="Google Shape;393;p38"/>
          <p:cNvSpPr txBox="1">
            <a:spLocks noGrp="1"/>
          </p:cNvSpPr>
          <p:nvPr>
            <p:ph type="title" idx="15"/>
          </p:nvPr>
        </p:nvSpPr>
        <p:spPr>
          <a:xfrm>
            <a:off x="4039414" y="3000125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DM Sans" panose="020B0604020202020204" charset="0"/>
              </a:rPr>
              <a:t>05</a:t>
            </a:r>
            <a:endParaRPr dirty="0">
              <a:latin typeface="DM Sans" panose="020B0604020202020204" charset="0"/>
            </a:endParaRPr>
          </a:p>
        </p:txBody>
      </p:sp>
      <p:sp>
        <p:nvSpPr>
          <p:cNvPr id="394" name="Google Shape;394;p38"/>
          <p:cNvSpPr txBox="1">
            <a:spLocks noGrp="1"/>
          </p:cNvSpPr>
          <p:nvPr>
            <p:ph type="subTitle" idx="16"/>
          </p:nvPr>
        </p:nvSpPr>
        <p:spPr>
          <a:xfrm>
            <a:off x="481223" y="185832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Context &amp; Objective </a:t>
            </a:r>
            <a:endParaRPr dirty="0">
              <a:latin typeface="DM Sans" panose="020B0604020202020204" charset="0"/>
            </a:endParaRPr>
          </a:p>
        </p:txBody>
      </p:sp>
      <p:sp>
        <p:nvSpPr>
          <p:cNvPr id="395" name="Google Shape;395;p38"/>
          <p:cNvSpPr txBox="1">
            <a:spLocks noGrp="1"/>
          </p:cNvSpPr>
          <p:nvPr>
            <p:ph type="subTitle" idx="17"/>
          </p:nvPr>
        </p:nvSpPr>
        <p:spPr>
          <a:xfrm>
            <a:off x="1916321" y="1560921"/>
            <a:ext cx="5311456" cy="7619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Input Data &amp; </a:t>
            </a:r>
            <a:endParaRPr lang="en-US" dirty="0" smtClean="0"/>
          </a:p>
          <a:p>
            <a:pPr marL="0" lvl="0" indent="0"/>
            <a:r>
              <a:rPr lang="en-US" dirty="0" smtClean="0"/>
              <a:t>Initial </a:t>
            </a:r>
            <a:r>
              <a:rPr lang="en-US" dirty="0"/>
              <a:t>Constraints</a:t>
            </a:r>
            <a:endParaRPr dirty="0">
              <a:latin typeface="DM Sans" panose="020B0604020202020204" charset="0"/>
            </a:endParaRPr>
          </a:p>
        </p:txBody>
      </p:sp>
      <p:sp>
        <p:nvSpPr>
          <p:cNvPr id="396" name="Google Shape;396;p38"/>
          <p:cNvSpPr txBox="1">
            <a:spLocks noGrp="1"/>
          </p:cNvSpPr>
          <p:nvPr>
            <p:ph type="subTitle" idx="18"/>
          </p:nvPr>
        </p:nvSpPr>
        <p:spPr>
          <a:xfrm>
            <a:off x="5503357" y="1780277"/>
            <a:ext cx="3463024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Data Quality </a:t>
            </a:r>
            <a:endParaRPr lang="en-US" dirty="0" smtClean="0"/>
          </a:p>
          <a:p>
            <a:pPr marL="0" lvl="0" indent="0"/>
            <a:r>
              <a:rPr lang="en-US" dirty="0" smtClean="0"/>
              <a:t>Strategy</a:t>
            </a:r>
            <a:endParaRPr lang="en-US" dirty="0">
              <a:latin typeface="DM Sans" panose="020B0604020202020204" charset="0"/>
            </a:endParaRPr>
          </a:p>
        </p:txBody>
      </p:sp>
      <p:sp>
        <p:nvSpPr>
          <p:cNvPr id="397" name="Google Shape;397;p38"/>
          <p:cNvSpPr txBox="1">
            <a:spLocks noGrp="1"/>
          </p:cNvSpPr>
          <p:nvPr>
            <p:ph type="subTitle" idx="19"/>
          </p:nvPr>
        </p:nvSpPr>
        <p:spPr>
          <a:xfrm>
            <a:off x="5877817" y="4309900"/>
            <a:ext cx="3088564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Data App – </a:t>
            </a:r>
            <a:r>
              <a:rPr lang="en-US" dirty="0" err="1"/>
              <a:t>Streamlit</a:t>
            </a:r>
            <a:r>
              <a:rPr lang="en-US" dirty="0"/>
              <a:t> Dashboard</a:t>
            </a:r>
            <a:endParaRPr dirty="0">
              <a:latin typeface="DM Sans" panose="020B0604020202020204" charset="0"/>
            </a:endParaRPr>
          </a:p>
        </p:txBody>
      </p:sp>
      <p:sp>
        <p:nvSpPr>
          <p:cNvPr id="398" name="Google Shape;398;p38"/>
          <p:cNvSpPr txBox="1">
            <a:spLocks noGrp="1"/>
          </p:cNvSpPr>
          <p:nvPr>
            <p:ph type="subTitle" idx="20"/>
          </p:nvPr>
        </p:nvSpPr>
        <p:spPr>
          <a:xfrm>
            <a:off x="-174301" y="4156184"/>
            <a:ext cx="4037026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 err="1"/>
              <a:t>GenAI</a:t>
            </a:r>
            <a:r>
              <a:rPr lang="en-US" dirty="0"/>
              <a:t> </a:t>
            </a:r>
            <a:r>
              <a:rPr lang="en-US" dirty="0" smtClean="0"/>
              <a:t>Feature</a:t>
            </a:r>
          </a:p>
          <a:p>
            <a:pPr marL="0" lvl="0" indent="0"/>
            <a:r>
              <a:rPr lang="en-US" dirty="0" smtClean="0"/>
              <a:t> </a:t>
            </a:r>
            <a:r>
              <a:rPr lang="en-US" dirty="0"/>
              <a:t>Engineering</a:t>
            </a:r>
            <a:endParaRPr dirty="0">
              <a:latin typeface="DM Sans" panose="020B0604020202020204" charset="0"/>
            </a:endParaRPr>
          </a:p>
        </p:txBody>
      </p:sp>
      <p:sp>
        <p:nvSpPr>
          <p:cNvPr id="399" name="Google Shape;399;p38"/>
          <p:cNvSpPr txBox="1">
            <a:spLocks noGrp="1"/>
          </p:cNvSpPr>
          <p:nvPr>
            <p:ph type="subTitle" idx="21"/>
          </p:nvPr>
        </p:nvSpPr>
        <p:spPr>
          <a:xfrm>
            <a:off x="2777860" y="4309900"/>
            <a:ext cx="323636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Data </a:t>
            </a:r>
            <a:r>
              <a:rPr lang="en-US" dirty="0" smtClean="0"/>
              <a:t>Modeling , </a:t>
            </a:r>
          </a:p>
          <a:p>
            <a:pPr marL="0" lvl="0" indent="0"/>
            <a:r>
              <a:rPr lang="en-US" dirty="0"/>
              <a:t>Analytics Layer</a:t>
            </a:r>
            <a:br>
              <a:rPr lang="en-US" dirty="0"/>
            </a:br>
            <a:r>
              <a:rPr lang="en-US" dirty="0"/>
              <a:t>Pipeline Design</a:t>
            </a:r>
            <a:endParaRPr dirty="0">
              <a:latin typeface="DM Sans" panose="020B0604020202020204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209806" y="4718894"/>
            <a:ext cx="37246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" sz="2000" dirty="0" smtClean="0">
                <a:latin typeface="DM Sans" panose="020B0604020202020204" charset="0"/>
              </a:rPr>
              <a:t>2</a:t>
            </a:r>
            <a:endParaRPr lang="en" sz="2000" dirty="0">
              <a:latin typeface="DM Sans" panose="020B0604020202020204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1"/>
          <p:cNvSpPr txBox="1">
            <a:spLocks noGrp="1"/>
          </p:cNvSpPr>
          <p:nvPr>
            <p:ph type="title"/>
          </p:nvPr>
        </p:nvSpPr>
        <p:spPr>
          <a:xfrm>
            <a:off x="0" y="445024"/>
            <a:ext cx="9218250" cy="7053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1. Context &amp; Objective (Why this project exists)</a:t>
            </a:r>
          </a:p>
        </p:txBody>
      </p:sp>
      <p:sp>
        <p:nvSpPr>
          <p:cNvPr id="456" name="Google Shape;456;p41"/>
          <p:cNvSpPr txBox="1">
            <a:spLocks noGrp="1"/>
          </p:cNvSpPr>
          <p:nvPr>
            <p:ph type="subTitle" idx="1"/>
          </p:nvPr>
        </p:nvSpPr>
        <p:spPr>
          <a:xfrm>
            <a:off x="4646249" y="1667625"/>
            <a:ext cx="3860753" cy="28530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eaLnBrk="0" fontAlgn="base" hangingPunct="0"/>
            <a:r>
              <a:rPr lang="en-US" b="1" dirty="0" smtClean="0"/>
              <a:t> </a:t>
            </a:r>
            <a:endParaRPr b="1" dirty="0"/>
          </a:p>
        </p:txBody>
      </p:sp>
      <p:sp>
        <p:nvSpPr>
          <p:cNvPr id="457" name="Google Shape;457;p41"/>
          <p:cNvSpPr txBox="1">
            <a:spLocks noGrp="1"/>
          </p:cNvSpPr>
          <p:nvPr>
            <p:ph type="subTitle" idx="2"/>
          </p:nvPr>
        </p:nvSpPr>
        <p:spPr>
          <a:xfrm>
            <a:off x="1173600" y="1760093"/>
            <a:ext cx="3398400" cy="18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50000"/>
              </a:lnSpc>
            </a:pPr>
            <a:r>
              <a:rPr lang="en-US" b="1" dirty="0" smtClean="0"/>
              <a:t> 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572000" y="4750096"/>
            <a:ext cx="29046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dirty="0">
                <a:latin typeface="DM Sans" panose="020B0604020202020204" charset="0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4646249" y="1924576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lang="en-US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04410" y="1017725"/>
            <a:ext cx="718246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 smtClean="0">
                <a:latin typeface="DM Sans" panose="020B0604020202020204" charset="0"/>
              </a:rPr>
              <a:t>Business </a:t>
            </a:r>
            <a:r>
              <a:rPr lang="en-US" sz="2500" b="1" dirty="0">
                <a:latin typeface="DM Sans" panose="020B0604020202020204" charset="0"/>
              </a:rPr>
              <a:t>problem</a:t>
            </a:r>
            <a:r>
              <a:rPr lang="en-US" dirty="0">
                <a:latin typeface="DM Sans" panose="020B0604020202020204" charset="0"/>
              </a:rPr>
              <a:t/>
            </a:r>
            <a:br>
              <a:rPr lang="en-US" dirty="0">
                <a:latin typeface="DM Sans" panose="020B0604020202020204" charset="0"/>
              </a:rPr>
            </a:br>
            <a:r>
              <a:rPr lang="en-US" dirty="0" err="1">
                <a:latin typeface="DM Sans" panose="020B0604020202020204" charset="0"/>
              </a:rPr>
              <a:t>Dadosfera</a:t>
            </a:r>
            <a:r>
              <a:rPr lang="en-US" dirty="0">
                <a:latin typeface="DM Sans" panose="020B0604020202020204" charset="0"/>
              </a:rPr>
              <a:t>-style analytics platform needs a reproducible, scalable pipeline to transform raw e-commerce events into </a:t>
            </a:r>
            <a:r>
              <a:rPr lang="en-US" b="1" dirty="0">
                <a:latin typeface="DM Sans" panose="020B0604020202020204" charset="0"/>
              </a:rPr>
              <a:t>decision-ready analytics</a:t>
            </a:r>
            <a:r>
              <a:rPr lang="en-US" dirty="0">
                <a:latin typeface="DM Sans" panose="020B060402020202020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500" b="1" dirty="0">
                <a:latin typeface="DM Sans" panose="020B0604020202020204" charset="0"/>
              </a:rPr>
              <a:t>Objective</a:t>
            </a:r>
            <a:r>
              <a:rPr lang="en-US" dirty="0">
                <a:latin typeface="DM Sans" panose="020B0604020202020204" charset="0"/>
              </a:rPr>
              <a:t/>
            </a:r>
            <a:br>
              <a:rPr lang="en-US" dirty="0">
                <a:latin typeface="DM Sans" panose="020B0604020202020204" charset="0"/>
              </a:rPr>
            </a:br>
            <a:r>
              <a:rPr lang="en-US" dirty="0">
                <a:latin typeface="DM Sans" panose="020B0604020202020204" charset="0"/>
              </a:rPr>
              <a:t>Design and implement an </a:t>
            </a:r>
            <a:r>
              <a:rPr lang="en-US" b="1" dirty="0">
                <a:latin typeface="DM Sans" panose="020B0604020202020204" charset="0"/>
              </a:rPr>
              <a:t>end-to-end data engineering solution</a:t>
            </a:r>
            <a:r>
              <a:rPr lang="en-US" dirty="0">
                <a:latin typeface="DM Sans" panose="020B0604020202020204" charset="0"/>
              </a:rPr>
              <a:t>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DM Sans" panose="020B0604020202020204" charset="0"/>
              </a:rPr>
              <a:t>From raw transactional data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DM Sans" panose="020B0604020202020204" charset="0"/>
              </a:rPr>
              <a:t>Through data quality + enrichment (</a:t>
            </a:r>
            <a:r>
              <a:rPr lang="en-US" dirty="0" err="1">
                <a:latin typeface="DM Sans" panose="020B0604020202020204" charset="0"/>
              </a:rPr>
              <a:t>GenAI</a:t>
            </a:r>
            <a:r>
              <a:rPr lang="en-US" dirty="0">
                <a:latin typeface="DM Sans" panose="020B0604020202020204" charset="0"/>
              </a:rPr>
              <a:t> where justified)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DM Sans" panose="020B0604020202020204" charset="0"/>
              </a:rPr>
              <a:t>Into analytics-ready models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DM Sans" panose="020B0604020202020204" charset="0"/>
              </a:rPr>
              <a:t>Served via an interactive dashboard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DM Sans" panose="020B0604020202020204" charset="0"/>
              </a:rPr>
              <a:t>Key constraint</a:t>
            </a:r>
            <a:r>
              <a:rPr lang="en-US" dirty="0">
                <a:latin typeface="DM Sans" panose="020B0604020202020204" charset="0"/>
              </a:rPr>
              <a:t>: keep it </a:t>
            </a:r>
            <a:r>
              <a:rPr lang="en-US" b="1" dirty="0">
                <a:latin typeface="DM Sans" panose="020B0604020202020204" charset="0"/>
              </a:rPr>
              <a:t>simple, explainable, and production-oriented</a:t>
            </a:r>
            <a:r>
              <a:rPr lang="en-US" dirty="0">
                <a:latin typeface="DM Sans" panose="020B0604020202020204" charset="0"/>
              </a:rPr>
              <a:t> (Junior Data Engineer scope).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2"/>
          <p:cNvSpPr txBox="1">
            <a:spLocks noGrp="1"/>
          </p:cNvSpPr>
          <p:nvPr>
            <p:ph type="title"/>
          </p:nvPr>
        </p:nvSpPr>
        <p:spPr>
          <a:xfrm>
            <a:off x="114394" y="32803"/>
            <a:ext cx="7710765" cy="8875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3600" dirty="0">
                <a:solidFill>
                  <a:schemeClr val="tx1"/>
                </a:solidFill>
                <a:latin typeface="Arial" panose="020B0604020202020204" pitchFamily="34" charset="0"/>
              </a:rPr>
              <a:t>2. Input Data &amp; Initial Constraints</a:t>
            </a:r>
          </a:p>
        </p:txBody>
      </p:sp>
      <p:grpSp>
        <p:nvGrpSpPr>
          <p:cNvPr id="464" name="Google Shape;464;p42"/>
          <p:cNvGrpSpPr/>
          <p:nvPr/>
        </p:nvGrpSpPr>
        <p:grpSpPr>
          <a:xfrm>
            <a:off x="5457915" y="-109245"/>
            <a:ext cx="4086563" cy="5870518"/>
            <a:chOff x="5430930" y="-251485"/>
            <a:chExt cx="4086563" cy="5870518"/>
          </a:xfrm>
        </p:grpSpPr>
        <p:sp>
          <p:nvSpPr>
            <p:cNvPr id="465" name="Google Shape;465;p42"/>
            <p:cNvSpPr/>
            <p:nvPr/>
          </p:nvSpPr>
          <p:spPr>
            <a:xfrm>
              <a:off x="7368520" y="98876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 panose="020B0604020202020204" charset="0"/>
              </a:endParaRPr>
            </a:p>
          </p:txBody>
        </p:sp>
        <p:sp>
          <p:nvSpPr>
            <p:cNvPr id="466" name="Google Shape;466;p42"/>
            <p:cNvSpPr/>
            <p:nvPr/>
          </p:nvSpPr>
          <p:spPr>
            <a:xfrm rot="10800000" flipH="1">
              <a:off x="6036409" y="19621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 panose="020B0604020202020204" charset="0"/>
              </a:endParaRPr>
            </a:p>
          </p:txBody>
        </p:sp>
        <p:sp>
          <p:nvSpPr>
            <p:cNvPr id="467" name="Google Shape;467;p42"/>
            <p:cNvSpPr/>
            <p:nvPr/>
          </p:nvSpPr>
          <p:spPr>
            <a:xfrm>
              <a:off x="7309474" y="21661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 panose="020B0604020202020204" charset="0"/>
              </a:endParaRPr>
            </a:p>
          </p:txBody>
        </p:sp>
        <p:sp>
          <p:nvSpPr>
            <p:cNvPr id="468" name="Google Shape;468;p42"/>
            <p:cNvSpPr/>
            <p:nvPr/>
          </p:nvSpPr>
          <p:spPr>
            <a:xfrm>
              <a:off x="7569369" y="31359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 panose="020B0604020202020204" charset="0"/>
              </a:endParaRPr>
            </a:p>
          </p:txBody>
        </p:sp>
        <p:sp>
          <p:nvSpPr>
            <p:cNvPr id="469" name="Google Shape;469;p42"/>
            <p:cNvSpPr/>
            <p:nvPr/>
          </p:nvSpPr>
          <p:spPr>
            <a:xfrm>
              <a:off x="5830483" y="421588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 panose="020B0604020202020204" charset="0"/>
              </a:endParaRPr>
            </a:p>
          </p:txBody>
        </p:sp>
        <p:sp>
          <p:nvSpPr>
            <p:cNvPr id="470" name="Google Shape;470;p42"/>
            <p:cNvSpPr/>
            <p:nvPr/>
          </p:nvSpPr>
          <p:spPr>
            <a:xfrm>
              <a:off x="6269683" y="133254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 panose="020B0604020202020204" charset="0"/>
              </a:endParaRPr>
            </a:p>
          </p:txBody>
        </p:sp>
        <p:sp>
          <p:nvSpPr>
            <p:cNvPr id="471" name="Google Shape;471;p42"/>
            <p:cNvSpPr/>
            <p:nvPr/>
          </p:nvSpPr>
          <p:spPr>
            <a:xfrm>
              <a:off x="8430764" y="2342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 panose="020B0604020202020204" charset="0"/>
              </a:endParaRPr>
            </a:p>
          </p:txBody>
        </p:sp>
        <p:sp>
          <p:nvSpPr>
            <p:cNvPr id="472" name="Google Shape;472;p42"/>
            <p:cNvSpPr/>
            <p:nvPr/>
          </p:nvSpPr>
          <p:spPr>
            <a:xfrm>
              <a:off x="7309467" y="261820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 panose="020B0604020202020204" charset="0"/>
              </a:endParaRPr>
            </a:p>
          </p:txBody>
        </p:sp>
        <p:sp>
          <p:nvSpPr>
            <p:cNvPr id="473" name="Google Shape;473;p42"/>
            <p:cNvSpPr/>
            <p:nvPr/>
          </p:nvSpPr>
          <p:spPr>
            <a:xfrm>
              <a:off x="7962441" y="131801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 panose="020B0604020202020204" charset="0"/>
              </a:endParaRPr>
            </a:p>
          </p:txBody>
        </p:sp>
        <p:sp>
          <p:nvSpPr>
            <p:cNvPr id="474" name="Google Shape;474;p42"/>
            <p:cNvSpPr/>
            <p:nvPr/>
          </p:nvSpPr>
          <p:spPr>
            <a:xfrm rot="10800000" flipH="1">
              <a:off x="6351880" y="311086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 panose="020B0604020202020204" charset="0"/>
              </a:endParaRPr>
            </a:p>
          </p:txBody>
        </p:sp>
        <p:sp>
          <p:nvSpPr>
            <p:cNvPr id="475" name="Google Shape;475;p42"/>
            <p:cNvSpPr/>
            <p:nvPr/>
          </p:nvSpPr>
          <p:spPr>
            <a:xfrm rot="10800000" flipH="1">
              <a:off x="6790284" y="354856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 panose="020B0604020202020204" charset="0"/>
              </a:endParaRPr>
            </a:p>
          </p:txBody>
        </p:sp>
        <p:sp>
          <p:nvSpPr>
            <p:cNvPr id="476" name="Google Shape;476;p42"/>
            <p:cNvSpPr/>
            <p:nvPr/>
          </p:nvSpPr>
          <p:spPr>
            <a:xfrm rot="10800000" flipH="1">
              <a:off x="5430930" y="465091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 panose="020B0604020202020204" charset="0"/>
              </a:endParaRPr>
            </a:p>
          </p:txBody>
        </p:sp>
        <p:sp>
          <p:nvSpPr>
            <p:cNvPr id="477" name="Google Shape;477;p42"/>
            <p:cNvSpPr/>
            <p:nvPr/>
          </p:nvSpPr>
          <p:spPr>
            <a:xfrm>
              <a:off x="8678783" y="266882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 panose="020B0604020202020204" charset="0"/>
              </a:endParaRPr>
            </a:p>
          </p:txBody>
        </p:sp>
        <p:sp>
          <p:nvSpPr>
            <p:cNvPr id="478" name="Google Shape;478;p42"/>
            <p:cNvSpPr/>
            <p:nvPr/>
          </p:nvSpPr>
          <p:spPr>
            <a:xfrm>
              <a:off x="8430773" y="223598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 panose="020B0604020202020204" charset="0"/>
              </a:endParaRPr>
            </a:p>
          </p:txBody>
        </p:sp>
        <p:sp>
          <p:nvSpPr>
            <p:cNvPr id="479" name="Google Shape;479;p42"/>
            <p:cNvSpPr/>
            <p:nvPr/>
          </p:nvSpPr>
          <p:spPr>
            <a:xfrm rot="10800000" flipH="1">
              <a:off x="8119787" y="363695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 panose="020B0604020202020204" charset="0"/>
              </a:endParaRPr>
            </a:p>
          </p:txBody>
        </p:sp>
        <p:sp>
          <p:nvSpPr>
            <p:cNvPr id="480" name="Google Shape;480;p42"/>
            <p:cNvSpPr/>
            <p:nvPr/>
          </p:nvSpPr>
          <p:spPr>
            <a:xfrm rot="10800000" flipH="1">
              <a:off x="7697255" y="411247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 panose="020B0604020202020204" charset="0"/>
              </a:endParaRPr>
            </a:p>
          </p:txBody>
        </p:sp>
        <p:sp>
          <p:nvSpPr>
            <p:cNvPr id="481" name="Google Shape;481;p42"/>
            <p:cNvSpPr/>
            <p:nvPr/>
          </p:nvSpPr>
          <p:spPr>
            <a:xfrm>
              <a:off x="6789579" y="62105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 panose="020B0604020202020204" charset="0"/>
              </a:endParaRPr>
            </a:p>
          </p:txBody>
        </p:sp>
        <p:sp>
          <p:nvSpPr>
            <p:cNvPr id="482" name="Google Shape;482;p42"/>
            <p:cNvSpPr/>
            <p:nvPr/>
          </p:nvSpPr>
          <p:spPr>
            <a:xfrm rot="10800000" flipH="1">
              <a:off x="7825159" y="-2514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 panose="020B0604020202020204" charset="0"/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4402867" y="4772820"/>
            <a:ext cx="39955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" dirty="0">
                <a:latin typeface="DM Sans" panose="020B0604020202020204" charset="0"/>
              </a:rPr>
              <a:t>4</a:t>
            </a:r>
            <a:endParaRPr lang="en" dirty="0" smtClean="0">
              <a:latin typeface="DM Sans" panose="020B0604020202020204" charset="0"/>
            </a:endParaRPr>
          </a:p>
          <a:p>
            <a:pPr lvl="0"/>
            <a:endParaRPr lang="en" dirty="0">
              <a:latin typeface="DM Sans" panose="020B0604020202020204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1328273"/>
              </p:ext>
            </p:extLst>
          </p:nvPr>
        </p:nvGraphicFramePr>
        <p:xfrm>
          <a:off x="40642" y="1956744"/>
          <a:ext cx="5230844" cy="2956560"/>
        </p:xfrm>
        <a:graphic>
          <a:graphicData uri="http://schemas.openxmlformats.org/drawingml/2006/table">
            <a:tbl>
              <a:tblPr/>
              <a:tblGrid>
                <a:gridCol w="2615422">
                  <a:extLst>
                    <a:ext uri="{9D8B030D-6E8A-4147-A177-3AD203B41FA5}">
                      <a16:colId xmlns:a16="http://schemas.microsoft.com/office/drawing/2014/main" val="705583350"/>
                    </a:ext>
                  </a:extLst>
                </a:gridCol>
                <a:gridCol w="2615422">
                  <a:extLst>
                    <a:ext uri="{9D8B030D-6E8A-4147-A177-3AD203B41FA5}">
                      <a16:colId xmlns:a16="http://schemas.microsoft.com/office/drawing/2014/main" val="248423552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DM Sans" panose="020B0604020202020204" charset="0"/>
                        </a:rPr>
                        <a:t>Column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DM Sans" panose="020B0604020202020204" charset="0"/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231857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>
                          <a:latin typeface="DM Sans" panose="020B0604020202020204" charset="0"/>
                        </a:rPr>
                        <a:t>product_id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DM Sans" panose="020B0604020202020204" charset="0"/>
                        </a:rPr>
                        <a:t>Business product identifier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184752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DM Sans" panose="020B0604020202020204" charset="0"/>
                        </a:rPr>
                        <a:t>title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DM Sans" panose="020B0604020202020204" charset="0"/>
                        </a:rPr>
                        <a:t>Product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212616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>
                          <a:latin typeface="DM Sans" panose="020B0604020202020204" charset="0"/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DM Sans" panose="020B0604020202020204" charset="0"/>
                        </a:rPr>
                        <a:t>Free-text product 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618295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DM Sans" panose="020B0604020202020204" charset="0"/>
                        </a:rPr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DM Sans" panose="020B0604020202020204" charset="0"/>
                        </a:rPr>
                        <a:t>Raw merchant 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89837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>
                          <a:latin typeface="DM Sans" panose="020B0604020202020204" charset="0"/>
                        </a:rPr>
                        <a:t>price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DM Sans" panose="020B0604020202020204" charset="0"/>
                        </a:rPr>
                        <a:t>Unit price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517483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DM Sans" panose="020B0604020202020204" charset="0"/>
                        </a:rPr>
                        <a:t>quantity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DM Sans" panose="020B0604020202020204" charset="0"/>
                        </a:rPr>
                        <a:t>Units sold per order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4438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>
                          <a:latin typeface="DM Sans" panose="020B0604020202020204" charset="0"/>
                        </a:rPr>
                        <a:t>order_date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DM Sans" panose="020B0604020202020204" charset="0"/>
                        </a:rPr>
                        <a:t>Transaction 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42564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>
                          <a:latin typeface="DM Sans" panose="020B0604020202020204" charset="0"/>
                        </a:rPr>
                        <a:t>region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DM Sans" panose="020B0604020202020204" charset="0"/>
                        </a:rPr>
                        <a:t>Sales region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9125781"/>
                  </a:ext>
                </a:extLst>
              </a:tr>
            </a:tbl>
          </a:graphicData>
        </a:graphic>
      </p:graphicFrame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300823" y="917042"/>
            <a:ext cx="400943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DM Sans" panose="020B0604020202020204" charset="0"/>
              </a:rPr>
              <a:t>Raw Dataset (Confirmed)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DM Sans" panose="020B060402020202020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41901" y="819954"/>
            <a:ext cx="4186954" cy="1723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500" b="1" dirty="0">
                <a:latin typeface="DM Sans" panose="020B0604020202020204" charset="0"/>
              </a:rPr>
              <a:t>Challenges identified </a:t>
            </a:r>
            <a:r>
              <a:rPr lang="en-US" sz="2500" b="1" dirty="0" smtClean="0">
                <a:latin typeface="DM Sans" panose="020B0604020202020204" charset="0"/>
              </a:rPr>
              <a:t>early</a:t>
            </a:r>
            <a:endParaRPr lang="en-US" sz="2500" dirty="0">
              <a:latin typeface="DM Sans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DM Sans" panose="020B0604020202020204" charset="0"/>
              </a:rPr>
              <a:t>Categories are noisy / inconsistent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DM Sans" panose="020B0604020202020204" charset="0"/>
              </a:rPr>
              <a:t>No semantic tags for analytics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DM Sans" panose="020B0604020202020204" charset="0"/>
              </a:rPr>
              <a:t>No premium segmentation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DM Sans" panose="020B0604020202020204" charset="0"/>
              </a:rPr>
              <a:t>Raw data not BI-ready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3"/>
          <p:cNvSpPr txBox="1">
            <a:spLocks noGrp="1"/>
          </p:cNvSpPr>
          <p:nvPr>
            <p:ph type="title"/>
          </p:nvPr>
        </p:nvSpPr>
        <p:spPr>
          <a:xfrm>
            <a:off x="0" y="-70024"/>
            <a:ext cx="9400853" cy="10730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3600" dirty="0">
                <a:solidFill>
                  <a:schemeClr val="tx1"/>
                </a:solidFill>
                <a:latin typeface="Arial" panose="020B0604020202020204" pitchFamily="34" charset="0"/>
              </a:rPr>
              <a:t>3. Data Quality Strategy (Step 4)</a:t>
            </a:r>
          </a:p>
        </p:txBody>
      </p:sp>
      <p:sp>
        <p:nvSpPr>
          <p:cNvPr id="489" name="Google Shape;489;p43"/>
          <p:cNvSpPr txBox="1">
            <a:spLocks noGrp="1"/>
          </p:cNvSpPr>
          <p:nvPr>
            <p:ph type="subTitle" idx="2"/>
          </p:nvPr>
        </p:nvSpPr>
        <p:spPr>
          <a:xfrm>
            <a:off x="190090" y="567607"/>
            <a:ext cx="7498080" cy="11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050" b="1" dirty="0" smtClean="0">
                <a:solidFill>
                  <a:schemeClr val="tx1"/>
                </a:solidFill>
                <a:latin typeface="DM Sans" panose="020B0604020202020204" charset="0"/>
              </a:rPr>
              <a:t> </a:t>
            </a:r>
            <a:endParaRPr lang="en-US" altLang="en-US" sz="2500" b="1" dirty="0">
              <a:solidFill>
                <a:schemeClr val="tx1"/>
              </a:solidFill>
              <a:latin typeface="DM Sans" panose="020B0604020202020204" charset="0"/>
            </a:endParaRPr>
          </a:p>
          <a:p>
            <a:pPr marL="0" lvl="0" indent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500" b="1" dirty="0" smtClean="0">
                <a:solidFill>
                  <a:schemeClr val="tx1"/>
                </a:solidFill>
                <a:latin typeface="DM Sans" panose="020B0604020202020204" charset="0"/>
              </a:rPr>
              <a:t>What I did  ?</a:t>
            </a:r>
            <a:endParaRPr lang="en-US" altLang="en-US" sz="2500" b="1" dirty="0">
              <a:solidFill>
                <a:schemeClr val="tx1"/>
              </a:solidFill>
              <a:latin typeface="DM Sans" panose="020B0604020202020204" charset="0"/>
            </a:endParaRPr>
          </a:p>
          <a:p>
            <a:pPr marL="0" lvl="0" indent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500" b="1" dirty="0">
                <a:solidFill>
                  <a:schemeClr val="tx1"/>
                </a:solidFill>
                <a:latin typeface="DM Sans" panose="020B0604020202020204" charset="0"/>
              </a:rPr>
              <a:t>Column-level validation</a:t>
            </a:r>
            <a:endParaRPr lang="en-US" altLang="en-US" sz="2500" dirty="0">
              <a:solidFill>
                <a:schemeClr val="tx1"/>
              </a:solidFill>
              <a:latin typeface="DM Sans" panose="020B0604020202020204" charset="0"/>
            </a:endParaRPr>
          </a:p>
          <a:p>
            <a:pPr marL="0" lvl="0" indent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DM Sans" panose="020B0604020202020204" charset="0"/>
              </a:rPr>
              <a:t>Enforced mandatory fields: </a:t>
            </a:r>
            <a:r>
              <a:rPr lang="en-US" altLang="en-US" dirty="0" err="1">
                <a:solidFill>
                  <a:schemeClr val="tx1"/>
                </a:solidFill>
                <a:latin typeface="DM Sans" panose="020B0604020202020204" charset="0"/>
              </a:rPr>
              <a:t>product_id</a:t>
            </a:r>
            <a:r>
              <a:rPr lang="en-US" altLang="en-US" dirty="0">
                <a:solidFill>
                  <a:schemeClr val="tx1"/>
                </a:solidFill>
                <a:latin typeface="DM Sans" panose="020B0604020202020204" charset="0"/>
              </a:rPr>
              <a:t>, price, quantity, </a:t>
            </a:r>
            <a:r>
              <a:rPr lang="en-US" altLang="en-US" dirty="0" err="1">
                <a:solidFill>
                  <a:schemeClr val="tx1"/>
                </a:solidFill>
                <a:latin typeface="DM Sans" panose="020B0604020202020204" charset="0"/>
              </a:rPr>
              <a:t>order_date</a:t>
            </a:r>
            <a:endParaRPr lang="en-US" altLang="en-US" dirty="0">
              <a:solidFill>
                <a:schemeClr val="tx1"/>
              </a:solidFill>
              <a:latin typeface="DM Sans" panose="020B0604020202020204" charset="0"/>
            </a:endParaRPr>
          </a:p>
          <a:p>
            <a:pPr marL="0" lvl="0" indent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DM Sans" panose="020B0604020202020204" charset="0"/>
              </a:rPr>
              <a:t>Removed rows with invalid numeric values (negative price/quantity)</a:t>
            </a:r>
          </a:p>
          <a:p>
            <a:pPr marL="0" lvl="0" indent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500" b="1" dirty="0">
                <a:solidFill>
                  <a:schemeClr val="tx1"/>
                </a:solidFill>
                <a:latin typeface="DM Sans" panose="020B0604020202020204" charset="0"/>
              </a:rPr>
              <a:t>Business logic validation</a:t>
            </a:r>
            <a:endParaRPr lang="en-US" altLang="en-US" sz="2500" dirty="0">
              <a:solidFill>
                <a:schemeClr val="tx1"/>
              </a:solidFill>
              <a:latin typeface="DM Sans" panose="020B0604020202020204" charset="0"/>
            </a:endParaRPr>
          </a:p>
          <a:p>
            <a:pPr marL="0" lvl="0" indent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 err="1">
                <a:solidFill>
                  <a:schemeClr val="tx1"/>
                </a:solidFill>
                <a:latin typeface="DM Sans" panose="020B0604020202020204" charset="0"/>
              </a:rPr>
              <a:t>total_amount</a:t>
            </a:r>
            <a:r>
              <a:rPr lang="en-US" altLang="en-US" dirty="0">
                <a:solidFill>
                  <a:schemeClr val="tx1"/>
                </a:solidFill>
                <a:latin typeface="DM Sans" panose="020B0604020202020204" charset="0"/>
              </a:rPr>
              <a:t> = price × quantity consistency</a:t>
            </a:r>
          </a:p>
          <a:p>
            <a:pPr marL="0" lvl="0" indent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DM Sans" panose="020B0604020202020204" charset="0"/>
              </a:rPr>
              <a:t>Date parsing enforced to ISO format</a:t>
            </a: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DM Sans" panose="020B0604020202020204" charset="0"/>
              </a:rPr>
              <a:t> </a:t>
            </a:r>
            <a:endParaRPr dirty="0">
              <a:latin typeface="DM Sans" panose="020B060402020202020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402867" y="4772820"/>
            <a:ext cx="39955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" dirty="0">
                <a:latin typeface="DM Sans" panose="020B0604020202020204" charset="0"/>
              </a:rPr>
              <a:t>5</a:t>
            </a:r>
            <a:endParaRPr lang="en" dirty="0" smtClean="0">
              <a:latin typeface="DM Sans" panose="020B0604020202020204" charset="0"/>
            </a:endParaRPr>
          </a:p>
          <a:p>
            <a:pPr lvl="0"/>
            <a:endParaRPr lang="en" dirty="0">
              <a:latin typeface="DM Sans" panose="020B060402020202020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802421" y="2520259"/>
            <a:ext cx="4572000" cy="2215991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500" b="1" dirty="0">
                <a:solidFill>
                  <a:schemeClr val="tx1"/>
                </a:solidFill>
                <a:latin typeface="DM Sans" panose="020B0604020202020204" charset="0"/>
              </a:rPr>
              <a:t>Why this matters</a:t>
            </a:r>
            <a:r>
              <a:rPr lang="en-US" altLang="en-US" dirty="0">
                <a:solidFill>
                  <a:schemeClr val="tx1"/>
                </a:solidFill>
                <a:latin typeface="DM Sans" panose="020B0604020202020204" charset="0"/>
              </a:rPr>
              <a:t/>
            </a:r>
            <a:br>
              <a:rPr lang="en-US" altLang="en-US" dirty="0">
                <a:solidFill>
                  <a:schemeClr val="tx1"/>
                </a:solidFill>
                <a:latin typeface="DM Sans" panose="020B0604020202020204" charset="0"/>
              </a:rPr>
            </a:br>
            <a:r>
              <a:rPr lang="en-US" altLang="en-US" dirty="0">
                <a:solidFill>
                  <a:schemeClr val="tx1"/>
                </a:solidFill>
                <a:latin typeface="DM Sans" panose="020B0604020202020204" charset="0"/>
              </a:rPr>
              <a:t>Prevents silent metric corruption in downstream aggregations.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500" b="1" dirty="0">
                <a:solidFill>
                  <a:schemeClr val="tx1"/>
                </a:solidFill>
                <a:latin typeface="DM Sans" panose="020B0604020202020204" charset="0"/>
              </a:rPr>
              <a:t>Outcome</a:t>
            </a:r>
            <a:r>
              <a:rPr lang="en-US" altLang="en-US" dirty="0">
                <a:solidFill>
                  <a:schemeClr val="tx1"/>
                </a:solidFill>
                <a:latin typeface="DM Sans" panose="020B0604020202020204" charset="0"/>
              </a:rPr>
              <a:t/>
            </a:r>
            <a:br>
              <a:rPr lang="en-US" altLang="en-US" dirty="0">
                <a:solidFill>
                  <a:schemeClr val="tx1"/>
                </a:solidFill>
                <a:latin typeface="DM Sans" panose="020B0604020202020204" charset="0"/>
              </a:rPr>
            </a:br>
            <a:r>
              <a:rPr lang="en-US" altLang="en-US" dirty="0">
                <a:solidFill>
                  <a:schemeClr val="tx1"/>
                </a:solidFill>
                <a:latin typeface="DM Sans" panose="020B0604020202020204" charset="0"/>
              </a:rPr>
              <a:t>Clean, deterministic dataset ready for enrichment.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4"/>
          <p:cNvSpPr txBox="1">
            <a:spLocks noGrp="1"/>
          </p:cNvSpPr>
          <p:nvPr>
            <p:ph type="title"/>
          </p:nvPr>
        </p:nvSpPr>
        <p:spPr>
          <a:xfrm>
            <a:off x="550867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4. </a:t>
            </a:r>
            <a:r>
              <a:rPr lang="en-US" dirty="0" err="1"/>
              <a:t>GenAI</a:t>
            </a:r>
            <a:r>
              <a:rPr lang="en-US" dirty="0"/>
              <a:t> Feature Engineering  </a:t>
            </a:r>
          </a:p>
        </p:txBody>
      </p:sp>
      <p:sp>
        <p:nvSpPr>
          <p:cNvPr id="504" name="Google Shape;504;p44"/>
          <p:cNvSpPr txBox="1">
            <a:spLocks noGrp="1"/>
          </p:cNvSpPr>
          <p:nvPr>
            <p:ph type="subTitle" idx="1"/>
          </p:nvPr>
        </p:nvSpPr>
        <p:spPr>
          <a:xfrm>
            <a:off x="881225" y="2768751"/>
            <a:ext cx="2288100" cy="8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DM Sans" panose="020B0604020202020204" charset="0"/>
              </a:rPr>
              <a:t> </a:t>
            </a:r>
            <a:endParaRPr dirty="0">
              <a:latin typeface="DM Sans" panose="020B060402020202020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402867" y="4772820"/>
            <a:ext cx="39955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" dirty="0">
                <a:latin typeface="DM Sans" panose="020B0604020202020204" charset="0"/>
              </a:rPr>
              <a:t>6</a:t>
            </a:r>
            <a:endParaRPr lang="en" dirty="0" smtClean="0">
              <a:latin typeface="DM Sans" panose="020B0604020202020204" charset="0"/>
            </a:endParaRPr>
          </a:p>
          <a:p>
            <a:pPr lvl="0"/>
            <a:endParaRPr lang="en" dirty="0">
              <a:latin typeface="DM Sans" panose="020B060402020202020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93338" y="1185176"/>
            <a:ext cx="6138635" cy="22557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 smtClean="0">
                <a:latin typeface="DM Sans" panose="020B0604020202020204" charset="0"/>
              </a:rPr>
              <a:t>Why </a:t>
            </a:r>
            <a:r>
              <a:rPr lang="en-US" sz="2500" b="1" dirty="0" err="1">
                <a:latin typeface="DM Sans" panose="020B0604020202020204" charset="0"/>
              </a:rPr>
              <a:t>GenAI</a:t>
            </a:r>
            <a:r>
              <a:rPr lang="en-US" sz="2500" b="1" dirty="0">
                <a:latin typeface="DM Sans" panose="020B0604020202020204" charset="0"/>
              </a:rPr>
              <a:t> was used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DM Sans" panose="020B0604020202020204" charset="0"/>
              </a:rPr>
              <a:t>GenAI</a:t>
            </a:r>
            <a:r>
              <a:rPr lang="en-US" dirty="0">
                <a:latin typeface="DM Sans" panose="020B0604020202020204" charset="0"/>
              </a:rPr>
              <a:t> was </a:t>
            </a:r>
            <a:r>
              <a:rPr lang="en-US" b="1" dirty="0">
                <a:latin typeface="DM Sans" panose="020B0604020202020204" charset="0"/>
              </a:rPr>
              <a:t>not</a:t>
            </a:r>
            <a:r>
              <a:rPr lang="en-US" dirty="0">
                <a:latin typeface="DM Sans" panose="020B0604020202020204" charset="0"/>
              </a:rPr>
              <a:t> used randomly.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DM Sans" panose="020B0604020202020204" charset="0"/>
              </a:rPr>
              <a:t>Used only where </a:t>
            </a:r>
            <a:r>
              <a:rPr lang="en-US" b="1" dirty="0">
                <a:latin typeface="DM Sans" panose="020B0604020202020204" charset="0"/>
              </a:rPr>
              <a:t>rule-based logic fails</a:t>
            </a:r>
            <a:r>
              <a:rPr lang="en-US" dirty="0">
                <a:latin typeface="DM Sans" panose="020B0604020202020204" charset="0"/>
              </a:rPr>
              <a:t>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DM Sans" panose="020B0604020202020204" charset="0"/>
              </a:rPr>
              <a:t>Semantic category normalization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DM Sans" panose="020B0604020202020204" charset="0"/>
              </a:rPr>
              <a:t>Product tagging from unstructured text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DM Sans" panose="020B0604020202020204" charset="0"/>
              </a:rPr>
              <a:t>Premium product classification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4"/>
          <p:cNvSpPr txBox="1">
            <a:spLocks noGrp="1"/>
          </p:cNvSpPr>
          <p:nvPr>
            <p:ph type="title"/>
          </p:nvPr>
        </p:nvSpPr>
        <p:spPr>
          <a:xfrm>
            <a:off x="550867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4. </a:t>
            </a:r>
            <a:r>
              <a:rPr lang="en-US" dirty="0" err="1"/>
              <a:t>GenAI</a:t>
            </a:r>
            <a:r>
              <a:rPr lang="en-US" dirty="0"/>
              <a:t> Feature Engineering  </a:t>
            </a:r>
          </a:p>
        </p:txBody>
      </p:sp>
      <p:sp>
        <p:nvSpPr>
          <p:cNvPr id="504" name="Google Shape;504;p44"/>
          <p:cNvSpPr txBox="1">
            <a:spLocks noGrp="1"/>
          </p:cNvSpPr>
          <p:nvPr>
            <p:ph type="subTitle" idx="1"/>
          </p:nvPr>
        </p:nvSpPr>
        <p:spPr>
          <a:xfrm>
            <a:off x="881225" y="2768751"/>
            <a:ext cx="2288100" cy="8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DM Sans" panose="020B0604020202020204" charset="0"/>
              </a:rPr>
              <a:t> </a:t>
            </a:r>
            <a:endParaRPr dirty="0">
              <a:latin typeface="DM Sans" panose="020B060402020202020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402867" y="4772820"/>
            <a:ext cx="39955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" dirty="0">
                <a:latin typeface="DM Sans" panose="020B0604020202020204" charset="0"/>
              </a:rPr>
              <a:t>7</a:t>
            </a:r>
            <a:endParaRPr lang="en" dirty="0" smtClean="0">
              <a:latin typeface="DM Sans" panose="020B0604020202020204" charset="0"/>
            </a:endParaRPr>
          </a:p>
          <a:p>
            <a:pPr lvl="0"/>
            <a:endParaRPr lang="en" dirty="0">
              <a:latin typeface="DM Sans" panose="020B060402020202020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485942"/>
              </p:ext>
            </p:extLst>
          </p:nvPr>
        </p:nvGraphicFramePr>
        <p:xfrm>
          <a:off x="196906" y="1436963"/>
          <a:ext cx="7718424" cy="2119365"/>
        </p:xfrm>
        <a:graphic>
          <a:graphicData uri="http://schemas.openxmlformats.org/drawingml/2006/table">
            <a:tbl>
              <a:tblPr/>
              <a:tblGrid>
                <a:gridCol w="3859212">
                  <a:extLst>
                    <a:ext uri="{9D8B030D-6E8A-4147-A177-3AD203B41FA5}">
                      <a16:colId xmlns:a16="http://schemas.microsoft.com/office/drawing/2014/main" val="453828780"/>
                    </a:ext>
                  </a:extLst>
                </a:gridCol>
                <a:gridCol w="3859212">
                  <a:extLst>
                    <a:ext uri="{9D8B030D-6E8A-4147-A177-3AD203B41FA5}">
                      <a16:colId xmlns:a16="http://schemas.microsoft.com/office/drawing/2014/main" val="49478340"/>
                    </a:ext>
                  </a:extLst>
                </a:gridCol>
              </a:tblGrid>
              <a:tr h="423873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DM Sans" panose="020B0604020202020204" charset="0"/>
                        </a:rPr>
                        <a:t>Column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DM Sans" panose="020B0604020202020204" charset="0"/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438895"/>
                  </a:ext>
                </a:extLst>
              </a:tr>
              <a:tr h="423873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DM Sans" panose="020B0604020202020204" charset="0"/>
                        </a:rPr>
                        <a:t>normalized_category</a:t>
                      </a:r>
                      <a:endParaRPr lang="en-US" sz="1400" dirty="0">
                        <a:latin typeface="DM Sans" panose="020B060402020202020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DM Sans" panose="020B0604020202020204" charset="0"/>
                        </a:rPr>
                        <a:t>Analytics-friendly category taxonomy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9769773"/>
                  </a:ext>
                </a:extLst>
              </a:tr>
              <a:tr h="423873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DM Sans" panose="020B0604020202020204" charset="0"/>
                        </a:rPr>
                        <a:t>product_tags</a:t>
                      </a:r>
                      <a:endParaRPr lang="en-US" sz="1400" dirty="0">
                        <a:latin typeface="DM Sans" panose="020B060402020202020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 err="1">
                          <a:latin typeface="DM Sans" panose="020B0604020202020204" charset="0"/>
                        </a:rPr>
                        <a:t>Semantic</a:t>
                      </a:r>
                      <a:r>
                        <a:rPr lang="fr-FR" sz="1400" dirty="0">
                          <a:latin typeface="DM Sans" panose="020B0604020202020204" charset="0"/>
                        </a:rPr>
                        <a:t> </a:t>
                      </a:r>
                      <a:r>
                        <a:rPr lang="fr-FR" sz="1400" dirty="0" err="1">
                          <a:latin typeface="DM Sans" panose="020B0604020202020204" charset="0"/>
                        </a:rPr>
                        <a:t>attributes</a:t>
                      </a:r>
                      <a:r>
                        <a:rPr lang="fr-FR" sz="1400" dirty="0">
                          <a:latin typeface="DM Sans" panose="020B0604020202020204" charset="0"/>
                        </a:rPr>
                        <a:t> (</a:t>
                      </a:r>
                      <a:r>
                        <a:rPr lang="fr-FR" sz="1400" dirty="0" err="1">
                          <a:latin typeface="DM Sans" panose="020B0604020202020204" charset="0"/>
                        </a:rPr>
                        <a:t>e.g</a:t>
                      </a:r>
                      <a:r>
                        <a:rPr lang="fr-FR" sz="1400" dirty="0">
                          <a:latin typeface="DM Sans" panose="020B0604020202020204" charset="0"/>
                        </a:rPr>
                        <a:t>. portable, durable)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3263855"/>
                  </a:ext>
                </a:extLst>
              </a:tr>
              <a:tr h="423873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DM Sans" panose="020B0604020202020204" charset="0"/>
                        </a:rPr>
                        <a:t>product_summary</a:t>
                      </a:r>
                      <a:endParaRPr lang="en-US" sz="1400" dirty="0">
                        <a:latin typeface="DM Sans" panose="020B060402020202020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DM Sans" panose="020B0604020202020204" charset="0"/>
                        </a:rPr>
                        <a:t>Compact business-readable 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0849666"/>
                  </a:ext>
                </a:extLst>
              </a:tr>
              <a:tr h="423873">
                <a:tc>
                  <a:txBody>
                    <a:bodyPr/>
                    <a:lstStyle/>
                    <a:p>
                      <a:r>
                        <a:rPr lang="en-US" sz="1400">
                          <a:latin typeface="DM Sans" panose="020B0604020202020204" charset="0"/>
                        </a:rPr>
                        <a:t>is_premium_product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DM Sans" panose="020B0604020202020204" charset="0"/>
                        </a:rPr>
                        <a:t>Boolean segmentation for revenue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9305984"/>
                  </a:ext>
                </a:extLst>
              </a:tr>
            </a:tbl>
          </a:graphicData>
        </a:graphic>
      </p:graphicFrame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78686" y="858594"/>
            <a:ext cx="3643946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5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DM Sans" panose="020B0604020202020204" charset="0"/>
              </a:rPr>
              <a:t>GenAI</a:t>
            </a:r>
            <a:r>
              <a:rPr kumimoji="0" lang="en-US" altLang="en-US" sz="2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DM Sans" panose="020B0604020202020204" charset="0"/>
              </a:rPr>
              <a:t> Outputs Added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DM Sans" panose="020B060402020202020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81225" y="3664251"/>
            <a:ext cx="6935420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500" b="1" dirty="0">
                <a:latin typeface="DM Sans" panose="020B0604020202020204" charset="0"/>
              </a:rPr>
              <a:t>Design decision</a:t>
            </a:r>
            <a:r>
              <a:rPr lang="en-US" dirty="0">
                <a:latin typeface="DM Sans" panose="020B0604020202020204" charset="0"/>
              </a:rPr>
              <a:t/>
            </a:r>
            <a:br>
              <a:rPr lang="en-US" dirty="0">
                <a:latin typeface="DM Sans" panose="020B0604020202020204" charset="0"/>
              </a:rPr>
            </a:br>
            <a:r>
              <a:rPr lang="en-US" dirty="0">
                <a:latin typeface="DM Sans" panose="020B0604020202020204" charset="0"/>
              </a:rPr>
              <a:t>LLM outputs are </a:t>
            </a:r>
            <a:r>
              <a:rPr lang="en-US" b="1" dirty="0">
                <a:latin typeface="DM Sans" panose="020B0604020202020204" charset="0"/>
              </a:rPr>
              <a:t>deterministic, JSON-parsed, and schema-controlled</a:t>
            </a:r>
            <a:r>
              <a:rPr lang="en-US" dirty="0">
                <a:latin typeface="DM Sans" panose="020B0604020202020204" charset="0"/>
              </a:rPr>
              <a:t> to avoid hallucination risk.</a:t>
            </a:r>
          </a:p>
        </p:txBody>
      </p:sp>
    </p:spTree>
    <p:extLst>
      <p:ext uri="{BB962C8B-B14F-4D97-AF65-F5344CB8AC3E}">
        <p14:creationId xmlns:p14="http://schemas.microsoft.com/office/powerpoint/2010/main" val="5846083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4"/>
          <p:cNvSpPr txBox="1">
            <a:spLocks noGrp="1"/>
          </p:cNvSpPr>
          <p:nvPr>
            <p:ph type="title"/>
          </p:nvPr>
        </p:nvSpPr>
        <p:spPr>
          <a:xfrm>
            <a:off x="550867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latin typeface="DM Sans" panose="020B0604020202020204" charset="0"/>
              </a:rPr>
              <a:t>5. Enriched Dataset Result</a:t>
            </a:r>
          </a:p>
        </p:txBody>
      </p:sp>
      <p:sp>
        <p:nvSpPr>
          <p:cNvPr id="504" name="Google Shape;504;p44"/>
          <p:cNvSpPr txBox="1">
            <a:spLocks noGrp="1"/>
          </p:cNvSpPr>
          <p:nvPr>
            <p:ph type="subTitle" idx="1"/>
          </p:nvPr>
        </p:nvSpPr>
        <p:spPr>
          <a:xfrm>
            <a:off x="881225" y="2768751"/>
            <a:ext cx="2288100" cy="8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DM Sans" panose="020B0604020202020204" charset="0"/>
              </a:rPr>
              <a:t> </a:t>
            </a:r>
            <a:endParaRPr dirty="0">
              <a:latin typeface="DM Sans" panose="020B060402020202020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402867" y="4772820"/>
            <a:ext cx="39955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" dirty="0">
                <a:latin typeface="DM Sans" panose="020B0604020202020204" charset="0"/>
              </a:rPr>
              <a:t>8</a:t>
            </a:r>
            <a:endParaRPr lang="en" dirty="0" smtClean="0">
              <a:latin typeface="DM Sans" panose="020B0604020202020204" charset="0"/>
            </a:endParaRPr>
          </a:p>
          <a:p>
            <a:pPr lvl="0"/>
            <a:endParaRPr lang="en" dirty="0">
              <a:latin typeface="DM Sans" panose="020B060402020202020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78686" y="1027871"/>
            <a:ext cx="546816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atin typeface="DM Sans" panose="020B0604020202020204" charset="0"/>
              </a:rPr>
              <a:t>Final enriched dataset columns:</a:t>
            </a:r>
          </a:p>
        </p:txBody>
      </p:sp>
      <p:sp>
        <p:nvSpPr>
          <p:cNvPr id="2" name="Rectangle 1"/>
          <p:cNvSpPr/>
          <p:nvPr/>
        </p:nvSpPr>
        <p:spPr>
          <a:xfrm>
            <a:off x="678686" y="1429923"/>
            <a:ext cx="8013030" cy="3294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 smtClean="0">
                <a:latin typeface="DM Sans" panose="020B0604020202020204" charset="0"/>
              </a:rPr>
              <a:t>product_id</a:t>
            </a:r>
            <a:endParaRPr lang="en-US" dirty="0">
              <a:latin typeface="DM Sans" panose="020B060402020202020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DM Sans" panose="020B0604020202020204" charset="0"/>
              </a:rPr>
              <a:t>price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DM Sans" panose="020B0604020202020204" charset="0"/>
              </a:rPr>
              <a:t>quantity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DM Sans" panose="020B0604020202020204" charset="0"/>
              </a:rPr>
              <a:t>order_date</a:t>
            </a:r>
            <a:endParaRPr lang="en-US" dirty="0">
              <a:latin typeface="DM Sans" panose="020B060402020202020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DM Sans" panose="020B0604020202020204" charset="0"/>
              </a:rPr>
              <a:t>region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DM Sans" panose="020B0604020202020204" charset="0"/>
              </a:rPr>
              <a:t>normalized_category</a:t>
            </a:r>
            <a:endParaRPr lang="en-US" dirty="0">
              <a:latin typeface="DM Sans" panose="020B0604020202020204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DM Sans" panose="020B0604020202020204" charset="0"/>
              </a:rPr>
              <a:t>product_tags</a:t>
            </a:r>
            <a:endParaRPr lang="en-US" dirty="0">
              <a:latin typeface="DM Sans" panose="020B0604020202020204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DM Sans" panose="020B0604020202020204" charset="0"/>
              </a:rPr>
              <a:t>product_summary</a:t>
            </a:r>
            <a:endParaRPr lang="en-US" dirty="0">
              <a:latin typeface="DM Sans" panose="020B0604020202020204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DM Sans" panose="020B0604020202020204" charset="0"/>
              </a:rPr>
              <a:t>is_premium_product</a:t>
            </a:r>
            <a:endParaRPr lang="en-US" dirty="0">
              <a:latin typeface="DM Sans" panose="020B060402020202020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DM Sans" panose="020B0604020202020204" charset="0"/>
              </a:rPr>
              <a:t>This dataset becomes the </a:t>
            </a:r>
            <a:r>
              <a:rPr lang="en-US" b="1" dirty="0">
                <a:latin typeface="DM Sans" panose="020B0604020202020204" charset="0"/>
              </a:rPr>
              <a:t>single source of truth</a:t>
            </a:r>
            <a:r>
              <a:rPr lang="en-US" dirty="0">
                <a:latin typeface="DM Sans" panose="020B0604020202020204" charset="0"/>
              </a:rPr>
              <a:t> for analytics.</a:t>
            </a:r>
          </a:p>
        </p:txBody>
      </p:sp>
    </p:spTree>
    <p:extLst>
      <p:ext uri="{BB962C8B-B14F-4D97-AF65-F5344CB8AC3E}">
        <p14:creationId xmlns:p14="http://schemas.microsoft.com/office/powerpoint/2010/main" val="27354307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4"/>
          <p:cNvSpPr txBox="1">
            <a:spLocks noGrp="1"/>
          </p:cNvSpPr>
          <p:nvPr>
            <p:ph type="title"/>
          </p:nvPr>
        </p:nvSpPr>
        <p:spPr>
          <a:xfrm>
            <a:off x="-226142" y="0"/>
            <a:ext cx="922265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6. Data Modeling – STAR Schema (Step 6)</a:t>
            </a:r>
            <a:br>
              <a:rPr lang="en-US" dirty="0"/>
            </a:br>
            <a:r>
              <a:rPr lang="en-US" dirty="0"/>
              <a:t>Why STAR schema</a:t>
            </a:r>
          </a:p>
        </p:txBody>
      </p:sp>
      <p:sp>
        <p:nvSpPr>
          <p:cNvPr id="504" name="Google Shape;504;p44"/>
          <p:cNvSpPr txBox="1">
            <a:spLocks noGrp="1"/>
          </p:cNvSpPr>
          <p:nvPr>
            <p:ph type="subTitle" idx="1"/>
          </p:nvPr>
        </p:nvSpPr>
        <p:spPr>
          <a:xfrm>
            <a:off x="881225" y="2768751"/>
            <a:ext cx="2288100" cy="8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DM Sans" panose="020B0604020202020204" charset="0"/>
              </a:rPr>
              <a:t> </a:t>
            </a:r>
            <a:endParaRPr dirty="0">
              <a:latin typeface="DM Sans" panose="020B060402020202020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402867" y="4772820"/>
            <a:ext cx="39955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" dirty="0" smtClean="0">
                <a:latin typeface="DM Sans" panose="020B0604020202020204" charset="0"/>
              </a:rPr>
              <a:t>9</a:t>
            </a:r>
          </a:p>
          <a:p>
            <a:pPr lvl="0"/>
            <a:endParaRPr lang="en" dirty="0" smtClean="0">
              <a:latin typeface="DM Sans" panose="020B0604020202020204" charset="0"/>
            </a:endParaRPr>
          </a:p>
          <a:p>
            <a:pPr lvl="0"/>
            <a:endParaRPr lang="en" dirty="0">
              <a:latin typeface="DM Sans" panose="020B060402020202020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58348" y="1380917"/>
            <a:ext cx="311453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DM Sans" panose="020B0604020202020204" charset="0"/>
              </a:rPr>
              <a:t>BI-friendly</a:t>
            </a:r>
            <a:endParaRPr lang="en-US" dirty="0">
              <a:latin typeface="DM Sans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DM Sans" panose="020B0604020202020204" charset="0"/>
              </a:rPr>
              <a:t>Simple joins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DM Sans" panose="020B0604020202020204" charset="0"/>
              </a:rPr>
              <a:t>Industry standard (</a:t>
            </a:r>
            <a:r>
              <a:rPr lang="en-US" dirty="0" err="1">
                <a:latin typeface="DM Sans" panose="020B0604020202020204" charset="0"/>
              </a:rPr>
              <a:t>Dadosfera</a:t>
            </a:r>
            <a:r>
              <a:rPr lang="en-US" dirty="0">
                <a:latin typeface="DM Sans" panose="020B0604020202020204" charset="0"/>
              </a:rPr>
              <a:t> compatible)</a:t>
            </a:r>
          </a:p>
        </p:txBody>
      </p:sp>
      <p:sp>
        <p:nvSpPr>
          <p:cNvPr id="4" name="Rectangle 3"/>
          <p:cNvSpPr/>
          <p:nvPr/>
        </p:nvSpPr>
        <p:spPr>
          <a:xfrm>
            <a:off x="409276" y="1013937"/>
            <a:ext cx="6287729" cy="4001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500" b="1" dirty="0">
                <a:latin typeface="DM Sans" panose="020B0604020202020204" charset="0"/>
              </a:rPr>
              <a:t>Final Model (No Over-Engineering)</a:t>
            </a:r>
          </a:p>
          <a:p>
            <a:r>
              <a:rPr lang="en-US" sz="2500" b="1" dirty="0">
                <a:latin typeface="DM Sans" panose="020B0604020202020204" charset="0"/>
              </a:rPr>
              <a:t>Fact Table – </a:t>
            </a:r>
            <a:r>
              <a:rPr lang="en-US" sz="2500" b="1" dirty="0" err="1">
                <a:latin typeface="DM Sans" panose="020B0604020202020204" charset="0"/>
              </a:rPr>
              <a:t>fact_sales</a:t>
            </a:r>
            <a:endParaRPr lang="en-US" sz="2500" dirty="0">
              <a:latin typeface="DM Sans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DM Sans" panose="020B0604020202020204" charset="0"/>
              </a:rPr>
              <a:t>product_id</a:t>
            </a:r>
            <a:r>
              <a:rPr lang="en-US" dirty="0">
                <a:latin typeface="DM Sans" panose="020B0604020202020204" charset="0"/>
              </a:rPr>
              <a:t> (FK)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DM Sans" panose="020B0604020202020204" charset="0"/>
              </a:rPr>
              <a:t>date_id</a:t>
            </a:r>
            <a:r>
              <a:rPr lang="en-US" dirty="0">
                <a:latin typeface="DM Sans" panose="020B0604020202020204" charset="0"/>
              </a:rPr>
              <a:t> (FK)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DM Sans" panose="020B0604020202020204" charset="0"/>
              </a:rPr>
              <a:t>region_id</a:t>
            </a:r>
            <a:r>
              <a:rPr lang="en-US" dirty="0">
                <a:latin typeface="DM Sans" panose="020B0604020202020204" charset="0"/>
              </a:rPr>
              <a:t> (FK)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DM Sans" panose="020B0604020202020204" charset="0"/>
              </a:rPr>
              <a:t>quantity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DM Sans" panose="020B0604020202020204" charset="0"/>
              </a:rPr>
              <a:t>unit_price</a:t>
            </a:r>
            <a:endParaRPr lang="en-US" dirty="0">
              <a:latin typeface="DM Sans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DM Sans" panose="020B0604020202020204" charset="0"/>
              </a:rPr>
              <a:t>total_amount</a:t>
            </a:r>
            <a:endParaRPr lang="en-US" dirty="0">
              <a:latin typeface="DM Sans" panose="020B0604020202020204" charset="0"/>
            </a:endParaRPr>
          </a:p>
          <a:p>
            <a:r>
              <a:rPr lang="en-US" sz="2500" b="1" dirty="0">
                <a:latin typeface="DM Sans" panose="020B0604020202020204" charset="0"/>
              </a:rPr>
              <a:t>Dimensions</a:t>
            </a:r>
            <a:endParaRPr lang="en-US" sz="2500" dirty="0">
              <a:latin typeface="DM Sans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DM Sans" panose="020B0604020202020204" charset="0"/>
              </a:rPr>
              <a:t>dim_product</a:t>
            </a:r>
            <a:r>
              <a:rPr lang="en-US" dirty="0">
                <a:latin typeface="DM Sans" panose="020B0604020202020204" charset="0"/>
              </a:rPr>
              <a:t> (</a:t>
            </a:r>
            <a:r>
              <a:rPr lang="en-US" dirty="0" err="1">
                <a:latin typeface="DM Sans" panose="020B0604020202020204" charset="0"/>
              </a:rPr>
              <a:t>GenAI</a:t>
            </a:r>
            <a:r>
              <a:rPr lang="en-US" dirty="0">
                <a:latin typeface="DM Sans" panose="020B0604020202020204" charset="0"/>
              </a:rPr>
              <a:t>-enriched attributes)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DM Sans" panose="020B0604020202020204" charset="0"/>
              </a:rPr>
              <a:t>dim_date</a:t>
            </a:r>
            <a:r>
              <a:rPr lang="en-US" dirty="0">
                <a:latin typeface="DM Sans" panose="020B0604020202020204" charset="0"/>
              </a:rPr>
              <a:t> (calendar breakdown)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DM Sans" panose="020B0604020202020204" charset="0"/>
              </a:rPr>
              <a:t>dim_region</a:t>
            </a:r>
            <a:r>
              <a:rPr lang="en-US" dirty="0">
                <a:latin typeface="DM Sans" panose="020B0604020202020204" charset="0"/>
              </a:rPr>
              <a:t> (geography)</a:t>
            </a:r>
          </a:p>
          <a:p>
            <a:r>
              <a:rPr lang="en-US" sz="2500" b="1" dirty="0">
                <a:latin typeface="DM Sans" panose="020B0604020202020204" charset="0"/>
              </a:rPr>
              <a:t>Why this works</a:t>
            </a:r>
            <a:r>
              <a:rPr lang="en-US" dirty="0">
                <a:latin typeface="DM Sans" panose="020B0604020202020204" charset="0"/>
              </a:rPr>
              <a:t/>
            </a:r>
            <a:br>
              <a:rPr lang="en-US" dirty="0">
                <a:latin typeface="DM Sans" panose="020B0604020202020204" charset="0"/>
              </a:rPr>
            </a:br>
            <a:r>
              <a:rPr lang="en-US" dirty="0">
                <a:latin typeface="DM Sans" panose="020B0604020202020204" charset="0"/>
              </a:rPr>
              <a:t>Supports slicing revenue by category, region, time with minimal complexity.</a:t>
            </a:r>
          </a:p>
        </p:txBody>
      </p:sp>
    </p:spTree>
    <p:extLst>
      <p:ext uri="{BB962C8B-B14F-4D97-AF65-F5344CB8AC3E}">
        <p14:creationId xmlns:p14="http://schemas.microsoft.com/office/powerpoint/2010/main" val="7238934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4"/>
          <p:cNvSpPr txBox="1">
            <a:spLocks noGrp="1"/>
          </p:cNvSpPr>
          <p:nvPr>
            <p:ph type="title"/>
          </p:nvPr>
        </p:nvSpPr>
        <p:spPr>
          <a:xfrm>
            <a:off x="-226142" y="0"/>
            <a:ext cx="986175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3600" dirty="0">
                <a:solidFill>
                  <a:schemeClr val="tx1"/>
                </a:solidFill>
                <a:latin typeface="DM Sans" panose="020B0604020202020204" charset="0"/>
              </a:rPr>
              <a:t>7. Analytics Layer (Step </a:t>
            </a:r>
            <a:r>
              <a:rPr lang="en-US" altLang="en-US" sz="3600" dirty="0" smtClean="0">
                <a:solidFill>
                  <a:schemeClr val="tx1"/>
                </a:solidFill>
                <a:latin typeface="DM Sans" panose="020B0604020202020204" charset="0"/>
              </a:rPr>
              <a:t>7)Key </a:t>
            </a:r>
            <a:r>
              <a:rPr lang="en-US" altLang="en-US" sz="3600" dirty="0">
                <a:solidFill>
                  <a:schemeClr val="tx1"/>
                </a:solidFill>
                <a:latin typeface="DM Sans" panose="020B0604020202020204" charset="0"/>
              </a:rPr>
              <a:t>Analytical Questions</a:t>
            </a:r>
            <a:endParaRPr lang="en-US" dirty="0"/>
          </a:p>
        </p:txBody>
      </p:sp>
      <p:sp>
        <p:nvSpPr>
          <p:cNvPr id="504" name="Google Shape;504;p44"/>
          <p:cNvSpPr txBox="1">
            <a:spLocks noGrp="1"/>
          </p:cNvSpPr>
          <p:nvPr>
            <p:ph type="subTitle" idx="1"/>
          </p:nvPr>
        </p:nvSpPr>
        <p:spPr>
          <a:xfrm>
            <a:off x="497767" y="1559384"/>
            <a:ext cx="4909975" cy="8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500" b="1" dirty="0" smtClean="0">
                <a:solidFill>
                  <a:schemeClr val="tx1"/>
                </a:solidFill>
                <a:latin typeface="DM Sans" panose="020B0604020202020204" charset="0"/>
              </a:rPr>
              <a:t>Answered</a:t>
            </a:r>
            <a:endParaRPr lang="en-US" altLang="en-US" sz="2500" b="1" dirty="0">
              <a:solidFill>
                <a:schemeClr val="tx1"/>
              </a:solidFill>
              <a:latin typeface="DM Sans" panose="020B0604020202020204" charset="0"/>
            </a:endParaRPr>
          </a:p>
          <a:p>
            <a:pPr marL="0" lvl="0" indent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500" dirty="0">
                <a:solidFill>
                  <a:schemeClr val="tx1"/>
                </a:solidFill>
                <a:latin typeface="DM Sans" panose="020B0604020202020204" charset="0"/>
              </a:rPr>
              <a:t>Revenue by category</a:t>
            </a:r>
          </a:p>
          <a:p>
            <a:pPr marL="0" lvl="0" indent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500" dirty="0">
                <a:solidFill>
                  <a:schemeClr val="tx1"/>
                </a:solidFill>
                <a:latin typeface="DM Sans" panose="020B0604020202020204" charset="0"/>
              </a:rPr>
              <a:t>Revenue by region</a:t>
            </a:r>
          </a:p>
          <a:p>
            <a:pPr marL="0" lvl="0" indent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500" dirty="0">
                <a:solidFill>
                  <a:schemeClr val="tx1"/>
                </a:solidFill>
                <a:latin typeface="DM Sans" panose="020B0604020202020204" charset="0"/>
              </a:rPr>
              <a:t>Units sold trends</a:t>
            </a:r>
          </a:p>
          <a:p>
            <a:pPr marL="0" lvl="0" indent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500" dirty="0">
                <a:solidFill>
                  <a:schemeClr val="tx1"/>
                </a:solidFill>
                <a:latin typeface="DM Sans" panose="020B0604020202020204" charset="0"/>
              </a:rPr>
              <a:t>Premium vs non-premium contribution</a:t>
            </a:r>
          </a:p>
          <a:p>
            <a:pPr marL="0" lvl="0" indent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2500" dirty="0">
              <a:solidFill>
                <a:schemeClr val="tx1"/>
              </a:solidFill>
              <a:latin typeface="DM Sans" panose="020B0604020202020204" charset="0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 smtClean="0">
                <a:latin typeface="DM Sans" panose="020B0604020202020204" charset="0"/>
              </a:rPr>
              <a:t> </a:t>
            </a:r>
            <a:endParaRPr sz="2500" dirty="0">
              <a:latin typeface="DM Sans" panose="020B060402020202020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402867" y="4772820"/>
            <a:ext cx="39955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" dirty="0" smtClean="0">
                <a:latin typeface="DM Sans" panose="020B0604020202020204" charset="0"/>
              </a:rPr>
              <a:t>10</a:t>
            </a:r>
          </a:p>
          <a:p>
            <a:pPr lvl="0"/>
            <a:endParaRPr lang="en" dirty="0" smtClean="0">
              <a:latin typeface="DM Sans" panose="020B0604020202020204" charset="0"/>
            </a:endParaRPr>
          </a:p>
          <a:p>
            <a:pPr lvl="0"/>
            <a:endParaRPr lang="en" dirty="0" smtClean="0">
              <a:latin typeface="DM Sans" panose="020B0604020202020204" charset="0"/>
            </a:endParaRPr>
          </a:p>
          <a:p>
            <a:pPr lvl="0"/>
            <a:endParaRPr lang="en" dirty="0">
              <a:latin typeface="DM Sans" panose="020B060402020202020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704735" y="1936529"/>
            <a:ext cx="4572000" cy="163891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500" b="1" dirty="0">
                <a:solidFill>
                  <a:schemeClr val="tx1"/>
                </a:solidFill>
                <a:latin typeface="DM Sans" panose="020B0604020202020204" charset="0"/>
              </a:rPr>
              <a:t>SQL-style Aggregations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tx1"/>
                </a:solidFill>
                <a:latin typeface="DM Sans" panose="020B0604020202020204" charset="0"/>
              </a:rPr>
              <a:t>All metrics are derived from </a:t>
            </a:r>
            <a:r>
              <a:rPr lang="en-US" altLang="en-US" dirty="0" err="1">
                <a:solidFill>
                  <a:schemeClr val="tx1"/>
                </a:solidFill>
                <a:latin typeface="DM Sans" panose="020B0604020202020204" charset="0"/>
              </a:rPr>
              <a:t>fact_sales</a:t>
            </a:r>
            <a:r>
              <a:rPr lang="en-US" altLang="en-US" dirty="0">
                <a:solidFill>
                  <a:schemeClr val="tx1"/>
                </a:solidFill>
                <a:latin typeface="DM Sans" panose="020B0604020202020204" charset="0"/>
              </a:rPr>
              <a:t>, ensuring: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DM Sans" panose="020B0604020202020204" charset="0"/>
              </a:rPr>
              <a:t>No duplicated logic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DM Sans" panose="020B0604020202020204" charset="0"/>
              </a:rPr>
              <a:t>Metric consistency across dashboards</a:t>
            </a:r>
          </a:p>
        </p:txBody>
      </p:sp>
    </p:spTree>
    <p:extLst>
      <p:ext uri="{BB962C8B-B14F-4D97-AF65-F5344CB8AC3E}">
        <p14:creationId xmlns:p14="http://schemas.microsoft.com/office/powerpoint/2010/main" val="39950147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4"/>
          <p:cNvSpPr txBox="1">
            <a:spLocks noGrp="1"/>
          </p:cNvSpPr>
          <p:nvPr>
            <p:ph type="title"/>
          </p:nvPr>
        </p:nvSpPr>
        <p:spPr>
          <a:xfrm>
            <a:off x="-226142" y="0"/>
            <a:ext cx="986175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3600" dirty="0">
                <a:solidFill>
                  <a:schemeClr val="tx1"/>
                </a:solidFill>
                <a:latin typeface="Arial" panose="020B0604020202020204" pitchFamily="34" charset="0"/>
              </a:rPr>
              <a:t>8. Pipeline Design (Step 8 – ETL)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02867" y="4772820"/>
            <a:ext cx="39955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" dirty="0" smtClean="0">
                <a:latin typeface="DM Sans" panose="020B0604020202020204" charset="0"/>
              </a:rPr>
              <a:t>11</a:t>
            </a:r>
          </a:p>
          <a:p>
            <a:pPr lvl="0"/>
            <a:endParaRPr lang="en" dirty="0" smtClean="0">
              <a:latin typeface="DM Sans" panose="020B0604020202020204" charset="0"/>
            </a:endParaRPr>
          </a:p>
          <a:p>
            <a:pPr lvl="0"/>
            <a:endParaRPr lang="en" dirty="0" smtClean="0">
              <a:latin typeface="DM Sans" panose="020B0604020202020204" charset="0"/>
            </a:endParaRPr>
          </a:p>
          <a:p>
            <a:pPr lvl="0"/>
            <a:endParaRPr lang="en" dirty="0">
              <a:latin typeface="DM Sans" panose="020B06040202020202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75812" y="572700"/>
            <a:ext cx="6465529" cy="3577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b="1" dirty="0" smtClean="0">
                <a:solidFill>
                  <a:schemeClr val="tx1"/>
                </a:solidFill>
                <a:latin typeface="DM Sans" panose="020B0604020202020204" charset="0"/>
              </a:rPr>
              <a:t> </a:t>
            </a:r>
            <a:endParaRPr lang="en-US" altLang="en-US" b="1" dirty="0">
              <a:solidFill>
                <a:schemeClr val="tx1"/>
              </a:solidFill>
              <a:latin typeface="DM Sans" panose="020B060402020202020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500" b="1" dirty="0">
                <a:solidFill>
                  <a:schemeClr val="tx1"/>
                </a:solidFill>
                <a:latin typeface="DM Sans" panose="020B0604020202020204" charset="0"/>
              </a:rPr>
              <a:t>Pipeline Stages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/>
            </a:pPr>
            <a:r>
              <a:rPr lang="en-US" altLang="en-US" b="1" dirty="0">
                <a:solidFill>
                  <a:schemeClr val="tx1"/>
                </a:solidFill>
                <a:latin typeface="DM Sans" panose="020B0604020202020204" charset="0"/>
              </a:rPr>
              <a:t>Extract</a:t>
            </a:r>
            <a:r>
              <a:rPr lang="en-US" altLang="en-US" dirty="0">
                <a:solidFill>
                  <a:schemeClr val="tx1"/>
                </a:solidFill>
                <a:latin typeface="DM Sans" panose="020B0604020202020204" charset="0"/>
              </a:rPr>
              <a:t> – CSV ingestion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2"/>
            </a:pPr>
            <a:r>
              <a:rPr lang="en-US" altLang="en-US" b="1" dirty="0">
                <a:solidFill>
                  <a:schemeClr val="tx1"/>
                </a:solidFill>
                <a:latin typeface="DM Sans" panose="020B0604020202020204" charset="0"/>
              </a:rPr>
              <a:t>Transform</a:t>
            </a:r>
            <a:endParaRPr lang="en-US" altLang="en-US" dirty="0">
              <a:solidFill>
                <a:schemeClr val="tx1"/>
              </a:solidFill>
              <a:latin typeface="DM Sans" panose="020B0604020202020204" charset="0"/>
            </a:endParaRPr>
          </a:p>
          <a:p>
            <a:pPr marL="457200"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DM Sans" panose="020B0604020202020204" charset="0"/>
              </a:rPr>
              <a:t>Data quality enforcement</a:t>
            </a:r>
          </a:p>
          <a:p>
            <a:pPr marL="457200"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 err="1">
                <a:solidFill>
                  <a:schemeClr val="tx1"/>
                </a:solidFill>
                <a:latin typeface="DM Sans" panose="020B0604020202020204" charset="0"/>
              </a:rPr>
              <a:t>GenAI</a:t>
            </a:r>
            <a:r>
              <a:rPr lang="en-US" altLang="en-US" dirty="0">
                <a:solidFill>
                  <a:schemeClr val="tx1"/>
                </a:solidFill>
                <a:latin typeface="DM Sans" panose="020B0604020202020204" charset="0"/>
              </a:rPr>
              <a:t> enrichment</a:t>
            </a:r>
          </a:p>
          <a:p>
            <a:pPr marL="457200"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DM Sans" panose="020B0604020202020204" charset="0"/>
              </a:rPr>
              <a:t>Metric computation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3"/>
            </a:pPr>
            <a:r>
              <a:rPr lang="en-US" altLang="en-US" b="1" dirty="0">
                <a:solidFill>
                  <a:schemeClr val="tx1"/>
                </a:solidFill>
                <a:latin typeface="DM Sans" panose="020B0604020202020204" charset="0"/>
              </a:rPr>
              <a:t>Load</a:t>
            </a:r>
            <a:endParaRPr lang="en-US" altLang="en-US" dirty="0">
              <a:solidFill>
                <a:schemeClr val="tx1"/>
              </a:solidFill>
              <a:latin typeface="DM Sans" panose="020B0604020202020204" charset="0"/>
            </a:endParaRPr>
          </a:p>
          <a:p>
            <a:pPr marL="457200"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DM Sans" panose="020B0604020202020204" charset="0"/>
              </a:rPr>
              <a:t>Aggregated analytics output</a:t>
            </a:r>
          </a:p>
          <a:p>
            <a:pPr marL="457200"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DM Sans" panose="020B0604020202020204" charset="0"/>
              </a:rPr>
              <a:t>Persisted as </a:t>
            </a:r>
            <a:r>
              <a:rPr lang="en-US" altLang="en-US" dirty="0" smtClean="0">
                <a:solidFill>
                  <a:schemeClr val="tx1"/>
                </a:solidFill>
                <a:latin typeface="DM Sans" panose="020B0604020202020204" charset="0"/>
              </a:rPr>
              <a:t>sales_pipeline_output.csv</a:t>
            </a:r>
            <a:endParaRPr lang="en-US" altLang="en-US" dirty="0">
              <a:solidFill>
                <a:schemeClr val="tx1"/>
              </a:solidFill>
              <a:latin typeface="DM Sans" panose="020B060402020202020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970206" y="1049076"/>
            <a:ext cx="4572000" cy="170816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b="1" dirty="0">
                <a:solidFill>
                  <a:schemeClr val="tx1"/>
                </a:solidFill>
                <a:latin typeface="DM Sans" panose="020B0604020202020204" charset="0"/>
              </a:rPr>
              <a:t>Why CSV Output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DM Sans" panose="020B0604020202020204" charset="0"/>
              </a:rPr>
              <a:t>Lightweight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 err="1">
                <a:solidFill>
                  <a:schemeClr val="tx1"/>
                </a:solidFill>
                <a:latin typeface="DM Sans" panose="020B0604020202020204" charset="0"/>
              </a:rPr>
              <a:t>Versionable</a:t>
            </a:r>
            <a:endParaRPr lang="en-US" altLang="en-US" dirty="0">
              <a:solidFill>
                <a:schemeClr val="tx1"/>
              </a:solidFill>
              <a:latin typeface="DM Sans" panose="020B060402020202020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DM Sans" panose="020B0604020202020204" charset="0"/>
              </a:rPr>
              <a:t>Perfect for demo + BI tools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tx1"/>
                </a:solidFill>
                <a:latin typeface="DM Sans" panose="020B0604020202020204" charset="0"/>
              </a:rPr>
              <a:t>Pipeline is </a:t>
            </a:r>
            <a:r>
              <a:rPr lang="en-US" altLang="en-US" b="1" dirty="0">
                <a:solidFill>
                  <a:schemeClr val="tx1"/>
                </a:solidFill>
                <a:latin typeface="DM Sans" panose="020B0604020202020204" charset="0"/>
              </a:rPr>
              <a:t>idempotent and re-runnable</a:t>
            </a:r>
            <a:r>
              <a:rPr lang="en-US" altLang="en-US" dirty="0">
                <a:solidFill>
                  <a:schemeClr val="tx1"/>
                </a:solidFill>
                <a:latin typeface="DM Sans" panose="020B060402020202020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398126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4"/>
          <p:cNvSpPr txBox="1">
            <a:spLocks noGrp="1"/>
          </p:cNvSpPr>
          <p:nvPr>
            <p:ph type="title"/>
          </p:nvPr>
        </p:nvSpPr>
        <p:spPr>
          <a:xfrm>
            <a:off x="-226142" y="0"/>
            <a:ext cx="986175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3600" dirty="0"/>
              <a:t>9. Data App – </a:t>
            </a:r>
            <a:r>
              <a:rPr lang="en-US" sz="3600" dirty="0" err="1"/>
              <a:t>Streamlit</a:t>
            </a:r>
            <a:r>
              <a:rPr lang="en-US" sz="3600" dirty="0"/>
              <a:t> Dashboard </a:t>
            </a:r>
            <a:r>
              <a:rPr lang="en-US" sz="3600" dirty="0" smtClean="0"/>
              <a:t> </a:t>
            </a:r>
            <a:endParaRPr lang="en-US" altLang="en-US" sz="3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402867" y="4772820"/>
            <a:ext cx="39955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" dirty="0" smtClean="0">
                <a:latin typeface="DM Sans" panose="020B0604020202020204" charset="0"/>
              </a:rPr>
              <a:t>12</a:t>
            </a:r>
          </a:p>
          <a:p>
            <a:pPr lvl="0"/>
            <a:endParaRPr lang="en" dirty="0" smtClean="0">
              <a:latin typeface="DM Sans" panose="020B0604020202020204" charset="0"/>
            </a:endParaRPr>
          </a:p>
          <a:p>
            <a:pPr lvl="0"/>
            <a:endParaRPr lang="en" dirty="0" smtClean="0">
              <a:latin typeface="DM Sans" panose="020B0604020202020204" charset="0"/>
            </a:endParaRPr>
          </a:p>
          <a:p>
            <a:pPr lvl="0"/>
            <a:endParaRPr lang="en" dirty="0">
              <a:latin typeface="DM Sans" panose="020B060402020202020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2451" y="784967"/>
            <a:ext cx="7757651" cy="4263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DM Sans" panose="020B0604020202020204" charset="0"/>
              </a:rPr>
              <a:t> </a:t>
            </a:r>
            <a:endParaRPr lang="en-US" b="1" dirty="0">
              <a:latin typeface="DM Sans" panose="020B0604020202020204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DM Sans" panose="020B0604020202020204" charset="0"/>
              </a:rPr>
              <a:t>Why </a:t>
            </a:r>
            <a:r>
              <a:rPr lang="en-US" b="1" dirty="0" err="1">
                <a:latin typeface="DM Sans" panose="020B0604020202020204" charset="0"/>
              </a:rPr>
              <a:t>Streamlit</a:t>
            </a:r>
            <a:endParaRPr lang="en-US" b="1" dirty="0">
              <a:latin typeface="DM Sans" panose="020B060402020202020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DM Sans" panose="020B0604020202020204" charset="0"/>
              </a:rPr>
              <a:t>Fast deployment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DM Sans" panose="020B0604020202020204" charset="0"/>
              </a:rPr>
              <a:t>Python-native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DM Sans" panose="020B0604020202020204" charset="0"/>
              </a:rPr>
              <a:t>Ideal for analytics demos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DM Sans" panose="020B0604020202020204" charset="0"/>
              </a:rPr>
              <a:t>Dashboard Architecture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DM Sans" panose="020B0604020202020204" charset="0"/>
              </a:rPr>
              <a:t>Reads pipeline output (no </a:t>
            </a:r>
            <a:r>
              <a:rPr lang="en-US" dirty="0" err="1">
                <a:latin typeface="DM Sans" panose="020B0604020202020204" charset="0"/>
              </a:rPr>
              <a:t>recomputation</a:t>
            </a:r>
            <a:r>
              <a:rPr lang="en-US" dirty="0">
                <a:latin typeface="DM Sans" panose="020B0604020202020204" charset="0"/>
              </a:rPr>
              <a:t>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DM Sans" panose="020B0604020202020204" charset="0"/>
              </a:rPr>
              <a:t>Filter-driven analytics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DM Sans" panose="020B0604020202020204" charset="0"/>
              </a:rPr>
              <a:t>Plotly</a:t>
            </a:r>
            <a:r>
              <a:rPr lang="en-US" dirty="0">
                <a:latin typeface="DM Sans" panose="020B0604020202020204" charset="0"/>
              </a:rPr>
              <a:t>-powered visualizations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DM Sans" panose="020B0604020202020204" charset="0"/>
              </a:rPr>
              <a:t>Implemented Features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DM Sans" panose="020B0604020202020204" charset="0"/>
              </a:rPr>
              <a:t>Filters</a:t>
            </a:r>
            <a:endParaRPr lang="en-US" dirty="0">
              <a:latin typeface="DM Sans" panose="020B060402020202020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DM Sans" panose="020B0604020202020204" charset="0"/>
              </a:rPr>
              <a:t>Region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DM Sans" panose="020B0604020202020204" charset="0"/>
              </a:rPr>
              <a:t>Normalized </a:t>
            </a:r>
            <a:r>
              <a:rPr lang="en-US" dirty="0" smtClean="0">
                <a:latin typeface="DM Sans" panose="020B0604020202020204" charset="0"/>
              </a:rPr>
              <a:t>Category</a:t>
            </a:r>
            <a:endParaRPr lang="en-US" dirty="0">
              <a:latin typeface="DM Sans" panose="020B060402020202020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63613" y="1025146"/>
            <a:ext cx="4572000" cy="29713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DM Sans" panose="020B0604020202020204" charset="0"/>
              </a:rPr>
              <a:t>KPIs</a:t>
            </a:r>
            <a:endParaRPr lang="en-US" dirty="0">
              <a:latin typeface="DM Sans" panose="020B060402020202020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DM Sans" panose="020B0604020202020204" charset="0"/>
              </a:rPr>
              <a:t>Total Revenue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DM Sans" panose="020B0604020202020204" charset="0"/>
              </a:rPr>
              <a:t>Units Sold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DM Sans" panose="020B0604020202020204" charset="0"/>
              </a:rPr>
              <a:t>Avg</a:t>
            </a:r>
            <a:r>
              <a:rPr lang="en-US" dirty="0">
                <a:latin typeface="DM Sans" panose="020B0604020202020204" charset="0"/>
              </a:rPr>
              <a:t> Revenue per Unit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DM Sans" panose="020B0604020202020204" charset="0"/>
              </a:rPr>
              <a:t>Visuals</a:t>
            </a:r>
            <a:endParaRPr lang="en-US" dirty="0">
              <a:latin typeface="DM Sans" panose="020B060402020202020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DM Sans" panose="020B0604020202020204" charset="0"/>
              </a:rPr>
              <a:t>Revenue by Category (interactive bar chart)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DM Sans" panose="020B0604020202020204" charset="0"/>
              </a:rPr>
              <a:t>Revenue by Region (interactive bar chart)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DM Sans" panose="020B0604020202020204" charset="0"/>
              </a:rPr>
              <a:t>Data Transparency</a:t>
            </a:r>
            <a:endParaRPr lang="en-US" dirty="0">
              <a:latin typeface="DM Sans" panose="020B060402020202020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DM Sans" panose="020B0604020202020204" charset="0"/>
              </a:rPr>
              <a:t>Raw data viewer (filtered)</a:t>
            </a:r>
          </a:p>
        </p:txBody>
      </p:sp>
    </p:spTree>
    <p:extLst>
      <p:ext uri="{BB962C8B-B14F-4D97-AF65-F5344CB8AC3E}">
        <p14:creationId xmlns:p14="http://schemas.microsoft.com/office/powerpoint/2010/main" val="30945035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4"/>
          <p:cNvSpPr txBox="1">
            <a:spLocks noGrp="1"/>
          </p:cNvSpPr>
          <p:nvPr>
            <p:ph type="title"/>
          </p:nvPr>
        </p:nvSpPr>
        <p:spPr>
          <a:xfrm>
            <a:off x="-226142" y="0"/>
            <a:ext cx="986175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3600" dirty="0"/>
              <a:t>9. Data App – </a:t>
            </a:r>
            <a:r>
              <a:rPr lang="en-US" sz="3600" dirty="0" err="1"/>
              <a:t>Streamlit</a:t>
            </a:r>
            <a:r>
              <a:rPr lang="en-US" sz="3600" dirty="0"/>
              <a:t> Dashboard </a:t>
            </a:r>
            <a:r>
              <a:rPr lang="en-US" sz="3600" dirty="0" smtClean="0"/>
              <a:t> </a:t>
            </a:r>
            <a:endParaRPr lang="en-US" altLang="en-US" sz="3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402867" y="4772820"/>
            <a:ext cx="39955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" dirty="0" smtClean="0">
                <a:latin typeface="DM Sans" panose="020B0604020202020204" charset="0"/>
              </a:rPr>
              <a:t>13</a:t>
            </a:r>
          </a:p>
          <a:p>
            <a:pPr lvl="0"/>
            <a:endParaRPr lang="en" dirty="0" smtClean="0">
              <a:latin typeface="DM Sans" panose="020B0604020202020204" charset="0"/>
            </a:endParaRPr>
          </a:p>
          <a:p>
            <a:pPr lvl="0"/>
            <a:endParaRPr lang="en" dirty="0" smtClean="0">
              <a:latin typeface="DM Sans" panose="020B0604020202020204" charset="0"/>
            </a:endParaRPr>
          </a:p>
          <a:p>
            <a:pPr lvl="0"/>
            <a:endParaRPr lang="en" dirty="0">
              <a:latin typeface="DM Sans" panose="020B06040202020202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" y="850880"/>
            <a:ext cx="8629650" cy="368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5849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4"/>
          <p:cNvSpPr txBox="1">
            <a:spLocks noGrp="1"/>
          </p:cNvSpPr>
          <p:nvPr>
            <p:ph type="title"/>
          </p:nvPr>
        </p:nvSpPr>
        <p:spPr>
          <a:xfrm>
            <a:off x="-226142" y="0"/>
            <a:ext cx="986175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3600" dirty="0"/>
              <a:t>9. Data App – </a:t>
            </a:r>
            <a:r>
              <a:rPr lang="en-US" sz="3600" dirty="0" err="1"/>
              <a:t>Streamlit</a:t>
            </a:r>
            <a:r>
              <a:rPr lang="en-US" sz="3600" dirty="0"/>
              <a:t> Dashboard </a:t>
            </a:r>
            <a:r>
              <a:rPr lang="en-US" sz="3600" dirty="0" smtClean="0"/>
              <a:t> </a:t>
            </a:r>
            <a:endParaRPr lang="en-US" altLang="en-US" sz="3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402867" y="4772820"/>
            <a:ext cx="39955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" dirty="0" smtClean="0">
                <a:latin typeface="DM Sans" panose="020B0604020202020204" charset="0"/>
              </a:rPr>
              <a:t>14</a:t>
            </a:r>
          </a:p>
          <a:p>
            <a:pPr lvl="0"/>
            <a:endParaRPr lang="en" dirty="0" smtClean="0">
              <a:latin typeface="DM Sans" panose="020B0604020202020204" charset="0"/>
            </a:endParaRPr>
          </a:p>
          <a:p>
            <a:pPr lvl="0"/>
            <a:endParaRPr lang="en" dirty="0" smtClean="0">
              <a:latin typeface="DM Sans" panose="020B0604020202020204" charset="0"/>
            </a:endParaRPr>
          </a:p>
          <a:p>
            <a:pPr lvl="0"/>
            <a:endParaRPr lang="en" dirty="0">
              <a:latin typeface="DM Sans" panose="020B06040202020202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41" y="1064159"/>
            <a:ext cx="9144000" cy="321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4981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4"/>
          <p:cNvSpPr txBox="1">
            <a:spLocks noGrp="1"/>
          </p:cNvSpPr>
          <p:nvPr>
            <p:ph type="title"/>
          </p:nvPr>
        </p:nvSpPr>
        <p:spPr>
          <a:xfrm>
            <a:off x="-226142" y="0"/>
            <a:ext cx="986175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3600" dirty="0"/>
              <a:t>9. Data App – </a:t>
            </a:r>
            <a:r>
              <a:rPr lang="en-US" sz="3600" dirty="0" err="1"/>
              <a:t>Streamlit</a:t>
            </a:r>
            <a:r>
              <a:rPr lang="en-US" sz="3600" dirty="0"/>
              <a:t> Dashboard </a:t>
            </a:r>
            <a:r>
              <a:rPr lang="en-US" sz="3600" dirty="0" smtClean="0"/>
              <a:t> </a:t>
            </a:r>
            <a:endParaRPr lang="en-US" altLang="en-US" sz="3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402867" y="4772820"/>
            <a:ext cx="39955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" dirty="0" smtClean="0">
                <a:latin typeface="DM Sans" panose="020B0604020202020204" charset="0"/>
              </a:rPr>
              <a:t>15</a:t>
            </a:r>
          </a:p>
          <a:p>
            <a:pPr lvl="0"/>
            <a:endParaRPr lang="en" dirty="0" smtClean="0">
              <a:latin typeface="DM Sans" panose="020B0604020202020204" charset="0"/>
            </a:endParaRPr>
          </a:p>
          <a:p>
            <a:pPr lvl="0"/>
            <a:endParaRPr lang="en" dirty="0" smtClean="0">
              <a:latin typeface="DM Sans" panose="020B0604020202020204" charset="0"/>
            </a:endParaRPr>
          </a:p>
          <a:p>
            <a:pPr lvl="0"/>
            <a:endParaRPr lang="en" dirty="0">
              <a:latin typeface="DM Sans" panose="020B06040202020202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112" y="963149"/>
            <a:ext cx="8551147" cy="321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8579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4"/>
          <p:cNvSpPr txBox="1">
            <a:spLocks noGrp="1"/>
          </p:cNvSpPr>
          <p:nvPr>
            <p:ph type="title"/>
          </p:nvPr>
        </p:nvSpPr>
        <p:spPr>
          <a:xfrm>
            <a:off x="-226142" y="0"/>
            <a:ext cx="986175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3600" dirty="0"/>
              <a:t>9. Data App – </a:t>
            </a:r>
            <a:r>
              <a:rPr lang="en-US" sz="3600" dirty="0" err="1"/>
              <a:t>Streamlit</a:t>
            </a:r>
            <a:r>
              <a:rPr lang="en-US" sz="3600" dirty="0"/>
              <a:t> Dashboard </a:t>
            </a:r>
            <a:r>
              <a:rPr lang="en-US" sz="3600" dirty="0" smtClean="0"/>
              <a:t> </a:t>
            </a:r>
            <a:endParaRPr lang="en-US" altLang="en-US" sz="3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402867" y="4772820"/>
            <a:ext cx="39955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" dirty="0" smtClean="0">
                <a:latin typeface="DM Sans" panose="020B0604020202020204" charset="0"/>
              </a:rPr>
              <a:t>16</a:t>
            </a:r>
          </a:p>
          <a:p>
            <a:pPr lvl="0"/>
            <a:endParaRPr lang="en" dirty="0" smtClean="0">
              <a:latin typeface="DM Sans" panose="020B0604020202020204" charset="0"/>
            </a:endParaRPr>
          </a:p>
          <a:p>
            <a:pPr lvl="0"/>
            <a:endParaRPr lang="en" dirty="0" smtClean="0">
              <a:latin typeface="DM Sans" panose="020B0604020202020204" charset="0"/>
            </a:endParaRPr>
          </a:p>
          <a:p>
            <a:pPr lvl="0"/>
            <a:endParaRPr lang="en" dirty="0">
              <a:latin typeface="DM Sans" panose="020B06040202020202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25" y="914400"/>
            <a:ext cx="8812405" cy="330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3942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4"/>
          <p:cNvSpPr txBox="1">
            <a:spLocks noGrp="1"/>
          </p:cNvSpPr>
          <p:nvPr>
            <p:ph type="title"/>
          </p:nvPr>
        </p:nvSpPr>
        <p:spPr>
          <a:xfrm>
            <a:off x="-226142" y="0"/>
            <a:ext cx="986175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600" dirty="0"/>
              <a:t>10. Engineering Decisions 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02867" y="4772820"/>
            <a:ext cx="39955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" dirty="0" smtClean="0">
                <a:latin typeface="DM Sans" panose="020B0604020202020204" charset="0"/>
              </a:rPr>
              <a:t>17</a:t>
            </a:r>
          </a:p>
          <a:p>
            <a:pPr lvl="0"/>
            <a:endParaRPr lang="en" dirty="0" smtClean="0">
              <a:latin typeface="DM Sans" panose="020B0604020202020204" charset="0"/>
            </a:endParaRPr>
          </a:p>
          <a:p>
            <a:pPr lvl="0"/>
            <a:endParaRPr lang="en" dirty="0" smtClean="0">
              <a:latin typeface="DM Sans" panose="020B0604020202020204" charset="0"/>
            </a:endParaRPr>
          </a:p>
          <a:p>
            <a:pPr lvl="0"/>
            <a:endParaRPr lang="en" dirty="0" smtClean="0">
              <a:latin typeface="DM Sans" panose="020B0604020202020204" charset="0"/>
            </a:endParaRPr>
          </a:p>
          <a:p>
            <a:pPr lvl="0"/>
            <a:endParaRPr lang="en" dirty="0">
              <a:latin typeface="DM Sans" panose="020B060402020202020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48618" y="1030762"/>
            <a:ext cx="7908052" cy="2001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DM Sans" panose="020B0604020202020204" charset="0"/>
              </a:rPr>
              <a:t>No </a:t>
            </a:r>
            <a:r>
              <a:rPr lang="en-US" dirty="0">
                <a:latin typeface="DM Sans" panose="020B0604020202020204" charset="0"/>
              </a:rPr>
              <a:t>hard-coded values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DM Sans" panose="020B0604020202020204" charset="0"/>
              </a:rPr>
              <a:t>Error-safe file loading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DM Sans" panose="020B0604020202020204" charset="0"/>
              </a:rPr>
              <a:t>Schema validation before visualization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DM Sans" panose="020B0604020202020204" charset="0"/>
              </a:rPr>
              <a:t>Clear separation of pipeline vs app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DM Sans" panose="020B0604020202020204" charset="0"/>
              </a:rPr>
              <a:t>GenAI</a:t>
            </a:r>
            <a:r>
              <a:rPr lang="en-US" dirty="0">
                <a:latin typeface="DM Sans" panose="020B0604020202020204" charset="0"/>
              </a:rPr>
              <a:t> used only where it adds value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DM Sans" panose="020B0604020202020204" charset="0"/>
              </a:rPr>
              <a:t>This shows </a:t>
            </a:r>
            <a:r>
              <a:rPr lang="en-US" b="1" dirty="0">
                <a:latin typeface="DM Sans" panose="020B0604020202020204" charset="0"/>
              </a:rPr>
              <a:t>engineering judgment</a:t>
            </a:r>
            <a:r>
              <a:rPr lang="en-US" dirty="0">
                <a:latin typeface="DM Sans" panose="020B0604020202020204" charset="0"/>
              </a:rPr>
              <a:t>, not just coding.</a:t>
            </a:r>
          </a:p>
        </p:txBody>
      </p:sp>
    </p:spTree>
    <p:extLst>
      <p:ext uri="{BB962C8B-B14F-4D97-AF65-F5344CB8AC3E}">
        <p14:creationId xmlns:p14="http://schemas.microsoft.com/office/powerpoint/2010/main" val="15531752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4"/>
          <p:cNvSpPr txBox="1">
            <a:spLocks noGrp="1"/>
          </p:cNvSpPr>
          <p:nvPr>
            <p:ph type="title"/>
          </p:nvPr>
        </p:nvSpPr>
        <p:spPr>
          <a:xfrm>
            <a:off x="-226142" y="0"/>
            <a:ext cx="986175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600" dirty="0">
                <a:latin typeface="DM Sans" panose="020B0604020202020204" charset="0"/>
              </a:rPr>
              <a:t>11. Outcome &amp; Business Value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02867" y="4772820"/>
            <a:ext cx="39955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" dirty="0" smtClean="0">
                <a:latin typeface="DM Sans" panose="020B0604020202020204" charset="0"/>
              </a:rPr>
              <a:t>18</a:t>
            </a:r>
          </a:p>
          <a:p>
            <a:pPr lvl="0"/>
            <a:endParaRPr lang="en" dirty="0" smtClean="0">
              <a:latin typeface="DM Sans" panose="020B0604020202020204" charset="0"/>
            </a:endParaRPr>
          </a:p>
          <a:p>
            <a:pPr lvl="0"/>
            <a:endParaRPr lang="en" dirty="0" smtClean="0">
              <a:latin typeface="DM Sans" panose="020B0604020202020204" charset="0"/>
            </a:endParaRPr>
          </a:p>
          <a:p>
            <a:pPr lvl="0"/>
            <a:endParaRPr lang="en" dirty="0" smtClean="0">
              <a:latin typeface="DM Sans" panose="020B0604020202020204" charset="0"/>
            </a:endParaRPr>
          </a:p>
          <a:p>
            <a:pPr lvl="0"/>
            <a:endParaRPr lang="en" dirty="0">
              <a:latin typeface="DM Sans" panose="020B060402020202020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93336" y="925852"/>
            <a:ext cx="6983604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DM Sans" panose="020B0604020202020204" charset="0"/>
              </a:rPr>
              <a:t>What </a:t>
            </a:r>
            <a:r>
              <a:rPr lang="en-US" b="1" dirty="0">
                <a:latin typeface="DM Sans" panose="020B0604020202020204" charset="0"/>
              </a:rPr>
              <a:t>this system enables: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DM Sans" panose="020B0604020202020204" charset="0"/>
              </a:rPr>
              <a:t>Faster category-level insights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DM Sans" panose="020B0604020202020204" charset="0"/>
              </a:rPr>
              <a:t>Cleaner revenue reporting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DM Sans" panose="020B0604020202020204" charset="0"/>
              </a:rPr>
              <a:t>Premium product segmentation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DM Sans" panose="020B0604020202020204" charset="0"/>
              </a:rPr>
              <a:t>Scalable analytics foundation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DM Sans" panose="020B0604020202020204" charset="0"/>
              </a:rPr>
              <a:t>Ready for: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DM Sans" panose="020B0604020202020204" charset="0"/>
              </a:rPr>
              <a:t>BI tools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DM Sans" panose="020B0604020202020204" charset="0"/>
              </a:rPr>
              <a:t>Cloud storage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DM Sans" panose="020B0604020202020204" charset="0"/>
              </a:rPr>
              <a:t>Orchestration (Airflow, </a:t>
            </a:r>
            <a:r>
              <a:rPr lang="en-US" dirty="0" err="1">
                <a:latin typeface="DM Sans" panose="020B0604020202020204" charset="0"/>
              </a:rPr>
              <a:t>Dagster</a:t>
            </a:r>
            <a:r>
              <a:rPr lang="en-US" dirty="0">
                <a:latin typeface="DM Sans" panose="020B060402020202020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456773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4"/>
          <p:cNvSpPr txBox="1">
            <a:spLocks noGrp="1"/>
          </p:cNvSpPr>
          <p:nvPr>
            <p:ph type="title"/>
          </p:nvPr>
        </p:nvSpPr>
        <p:spPr>
          <a:xfrm>
            <a:off x="813916" y="0"/>
            <a:ext cx="986175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3600" dirty="0">
                <a:solidFill>
                  <a:schemeClr val="tx1"/>
                </a:solidFill>
                <a:latin typeface="DM Sans" panose="020B0604020202020204" charset="0"/>
              </a:rPr>
              <a:t>12. Final Takeaway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02867" y="4772820"/>
            <a:ext cx="39955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" dirty="0" smtClean="0">
                <a:latin typeface="DM Sans" panose="020B0604020202020204" charset="0"/>
              </a:rPr>
              <a:t>19</a:t>
            </a:r>
          </a:p>
          <a:p>
            <a:pPr lvl="0"/>
            <a:endParaRPr lang="en" dirty="0" smtClean="0">
              <a:latin typeface="DM Sans" panose="020B0604020202020204" charset="0"/>
            </a:endParaRPr>
          </a:p>
          <a:p>
            <a:pPr lvl="0"/>
            <a:endParaRPr lang="en" dirty="0" smtClean="0">
              <a:latin typeface="DM Sans" panose="020B0604020202020204" charset="0"/>
            </a:endParaRPr>
          </a:p>
          <a:p>
            <a:pPr lvl="0"/>
            <a:endParaRPr lang="en" dirty="0" smtClean="0">
              <a:latin typeface="DM Sans" panose="020B0604020202020204" charset="0"/>
            </a:endParaRPr>
          </a:p>
          <a:p>
            <a:pPr lvl="0"/>
            <a:endParaRPr lang="en" dirty="0">
              <a:latin typeface="DM Sans" panose="020B060402020202020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93336" y="925852"/>
            <a:ext cx="6983604" cy="3860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DM Sans" panose="020B0604020202020204" charset="0"/>
              </a:rPr>
              <a:t> </a:t>
            </a:r>
            <a:endParaRPr lang="en-US" dirty="0">
              <a:latin typeface="DM Sans" panose="020B0604020202020204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813916" y="1268902"/>
            <a:ext cx="7596951" cy="11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DM Sans" panose="020B0604020202020204" charset="0"/>
              </a:rPr>
              <a:t>This project demonstrates how to go from messy transactional data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DM Sans" panose="020B0604020202020204" charset="0"/>
              </a:rPr>
              <a:t>to a clean, enriched, analytics-ready system using pragmatic data engineering principles.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DM Sans" panose="020B0604020202020204" charset="0"/>
              </a:rPr>
              <a:t>End-to-end. Explainable. Production-minded.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DM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91361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3" name="Google Shape;673;p51"/>
          <p:cNvGrpSpPr/>
          <p:nvPr/>
        </p:nvGrpSpPr>
        <p:grpSpPr>
          <a:xfrm>
            <a:off x="4992697" y="-286865"/>
            <a:ext cx="4407549" cy="5644574"/>
            <a:chOff x="4992697" y="-286865"/>
            <a:chExt cx="4407549" cy="5644574"/>
          </a:xfrm>
        </p:grpSpPr>
        <p:sp>
          <p:nvSpPr>
            <p:cNvPr id="674" name="Google Shape;674;p51"/>
            <p:cNvSpPr/>
            <p:nvPr/>
          </p:nvSpPr>
          <p:spPr>
            <a:xfrm rot="10800000" flipH="1">
              <a:off x="4992697" y="29166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51"/>
            <p:cNvSpPr/>
            <p:nvPr/>
          </p:nvSpPr>
          <p:spPr>
            <a:xfrm>
              <a:off x="8071114" y="53949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51"/>
            <p:cNvSpPr/>
            <p:nvPr/>
          </p:nvSpPr>
          <p:spPr>
            <a:xfrm>
              <a:off x="7651709" y="101132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51"/>
            <p:cNvSpPr/>
            <p:nvPr/>
          </p:nvSpPr>
          <p:spPr>
            <a:xfrm>
              <a:off x="5986858" y="14274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51"/>
            <p:cNvSpPr/>
            <p:nvPr/>
          </p:nvSpPr>
          <p:spPr>
            <a:xfrm>
              <a:off x="5977008" y="91722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51"/>
            <p:cNvSpPr/>
            <p:nvPr/>
          </p:nvSpPr>
          <p:spPr>
            <a:xfrm>
              <a:off x="6497889" y="-28686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51"/>
            <p:cNvSpPr/>
            <p:nvPr/>
          </p:nvSpPr>
          <p:spPr>
            <a:xfrm>
              <a:off x="6851641" y="12727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51"/>
            <p:cNvSpPr/>
            <p:nvPr/>
          </p:nvSpPr>
          <p:spPr>
            <a:xfrm rot="10800000" flipH="1">
              <a:off x="5906612" y="30935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51"/>
            <p:cNvSpPr/>
            <p:nvPr/>
          </p:nvSpPr>
          <p:spPr>
            <a:xfrm rot="10800000" flipH="1">
              <a:off x="6299730" y="438958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51"/>
            <p:cNvSpPr/>
            <p:nvPr/>
          </p:nvSpPr>
          <p:spPr>
            <a:xfrm rot="10800000" flipH="1">
              <a:off x="5389322" y="-893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51"/>
            <p:cNvSpPr/>
            <p:nvPr/>
          </p:nvSpPr>
          <p:spPr>
            <a:xfrm rot="10800000" flipH="1">
              <a:off x="6709330" y="394740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51"/>
            <p:cNvSpPr/>
            <p:nvPr/>
          </p:nvSpPr>
          <p:spPr>
            <a:xfrm>
              <a:off x="8175333" y="229797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51"/>
            <p:cNvSpPr/>
            <p:nvPr/>
          </p:nvSpPr>
          <p:spPr>
            <a:xfrm>
              <a:off x="8561535" y="181336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51"/>
            <p:cNvSpPr/>
            <p:nvPr/>
          </p:nvSpPr>
          <p:spPr>
            <a:xfrm rot="10800000" flipH="1">
              <a:off x="7336612" y="301415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51"/>
            <p:cNvSpPr/>
            <p:nvPr/>
          </p:nvSpPr>
          <p:spPr>
            <a:xfrm rot="10800000" flipH="1">
              <a:off x="7744755" y="348647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51"/>
            <p:cNvSpPr/>
            <p:nvPr/>
          </p:nvSpPr>
          <p:spPr>
            <a:xfrm rot="10800000" flipH="1">
              <a:off x="5461012" y="263676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51"/>
            <p:cNvSpPr/>
            <p:nvPr/>
          </p:nvSpPr>
          <p:spPr>
            <a:xfrm>
              <a:off x="6643161" y="183026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91" name="Google Shape;691;p51"/>
          <p:cNvCxnSpPr/>
          <p:nvPr/>
        </p:nvCxnSpPr>
        <p:spPr>
          <a:xfrm>
            <a:off x="823425" y="1769325"/>
            <a:ext cx="373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Google Shape;1078;p70"/>
          <p:cNvSpPr txBox="1">
            <a:spLocks noGrp="1"/>
          </p:cNvSpPr>
          <p:nvPr>
            <p:ph type="title"/>
          </p:nvPr>
        </p:nvSpPr>
        <p:spPr>
          <a:xfrm>
            <a:off x="676924" y="1722784"/>
            <a:ext cx="50946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sp>
        <p:nvSpPr>
          <p:cNvPr id="27" name="Google Shape;1079;p70"/>
          <p:cNvSpPr txBox="1">
            <a:spLocks noGrp="1"/>
          </p:cNvSpPr>
          <p:nvPr>
            <p:ph type="subTitle" idx="1"/>
          </p:nvPr>
        </p:nvSpPr>
        <p:spPr>
          <a:xfrm>
            <a:off x="676924" y="2886709"/>
            <a:ext cx="50946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DM Sans Medium"/>
                <a:ea typeface="DM Sans Medium"/>
                <a:cs typeface="DM Sans Medium"/>
                <a:sym typeface="DM Sans Medium"/>
              </a:rPr>
              <a:t>Do you have any questions?</a:t>
            </a:r>
            <a:endParaRPr sz="2000" dirty="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 </a:t>
            </a:r>
            <a:endParaRPr dirty="0"/>
          </a:p>
        </p:txBody>
      </p:sp>
      <p:sp>
        <p:nvSpPr>
          <p:cNvPr id="28" name="Rectangle 27"/>
          <p:cNvSpPr/>
          <p:nvPr/>
        </p:nvSpPr>
        <p:spPr>
          <a:xfrm>
            <a:off x="4402866" y="4772820"/>
            <a:ext cx="105814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" dirty="0" smtClean="0">
                <a:latin typeface="DM Sans" panose="020B0604020202020204" charset="0"/>
              </a:rPr>
              <a:t>20</a:t>
            </a:r>
            <a:endParaRPr lang="en" dirty="0" smtClean="0">
              <a:latin typeface="DM Sans" panose="020B0604020202020204" charset="0"/>
            </a:endParaRPr>
          </a:p>
          <a:p>
            <a:pPr lvl="0"/>
            <a:endParaRPr lang="en" dirty="0">
              <a:latin typeface="DM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853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732</TotalTime>
  <Words>677</Words>
  <Application>Microsoft Office PowerPoint</Application>
  <PresentationFormat>On-screen Show (16:9)</PresentationFormat>
  <Paragraphs>234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DM Sans Medium</vt:lpstr>
      <vt:lpstr>DM Sans</vt:lpstr>
      <vt:lpstr>Nunito Light</vt:lpstr>
      <vt:lpstr>Outfit</vt:lpstr>
      <vt:lpstr>Outfit Medium</vt:lpstr>
      <vt:lpstr>Arial</vt:lpstr>
      <vt:lpstr>Data Collection and Analysis - Master of Science in Community Health and Prevention Research by Slidesgo</vt:lpstr>
      <vt:lpstr>E-commerce Product Analytics – Technical Case Presentation   </vt:lpstr>
      <vt:lpstr>Table of contents</vt:lpstr>
      <vt:lpstr>1. Context &amp; Objective (Why this project exists)</vt:lpstr>
      <vt:lpstr>2. Input Data &amp; Initial Constraints</vt:lpstr>
      <vt:lpstr>3. Data Quality Strategy (Step 4)</vt:lpstr>
      <vt:lpstr>4. GenAI Feature Engineering  </vt:lpstr>
      <vt:lpstr>4. GenAI Feature Engineering  </vt:lpstr>
      <vt:lpstr>5. Enriched Dataset Result</vt:lpstr>
      <vt:lpstr>6. Data Modeling – STAR Schema (Step 6) Why STAR schema</vt:lpstr>
      <vt:lpstr>7. Analytics Layer (Step 7)Key Analytical Questions</vt:lpstr>
      <vt:lpstr>8. Pipeline Design (Step 8 – ETL)</vt:lpstr>
      <vt:lpstr>9. Data App – Streamlit Dashboard  </vt:lpstr>
      <vt:lpstr>9. Data App – Streamlit Dashboard  </vt:lpstr>
      <vt:lpstr>9. Data App – Streamlit Dashboard  </vt:lpstr>
      <vt:lpstr>9. Data App – Streamlit Dashboard  </vt:lpstr>
      <vt:lpstr>9. Data App – Streamlit Dashboard  </vt:lpstr>
      <vt:lpstr>10. Engineering Decisions  </vt:lpstr>
      <vt:lpstr>11. Outcome &amp; Business Value</vt:lpstr>
      <vt:lpstr>12. Final Takeaway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Collection and Analysis  Master of Science in Community Health and Prevention Research</dc:title>
  <dc:creator>Ibn e Ali</dc:creator>
  <cp:lastModifiedBy>Ibn e Ali</cp:lastModifiedBy>
  <cp:revision>85</cp:revision>
  <dcterms:modified xsi:type="dcterms:W3CDTF">2026-01-04T18:43:26Z</dcterms:modified>
</cp:coreProperties>
</file>